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4.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5.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Success rate</c:v>
                </c:pt>
              </c:strCache>
            </c:strRef>
          </c:tx>
          <c:spPr>
            <a:solidFill>
              <a:srgbClr val="14213D"/>
            </a:solidFill>
            <a:effectLst/>
          </c:spPr>
          <c:invertIfNegative val="0"/>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Sheet1!$A$2:$A$12</c:f>
              <c:multiLvlStrCache>
                <c:ptCount val="11"/>
                <c:lvl>
                  <c:pt idx="0">
                    <c:v>ES-L1 (n=1)</c:v>
                  </c:pt>
                  <c:pt idx="1">
                    <c:v>GEO (n=1)</c:v>
                  </c:pt>
                  <c:pt idx="2">
                    <c:v>HEO (n=1)</c:v>
                  </c:pt>
                  <c:pt idx="3">
                    <c:v>SSO (n=5)</c:v>
                  </c:pt>
                  <c:pt idx="4">
                    <c:v>VLEO (n=14)</c:v>
                  </c:pt>
                  <c:pt idx="5">
                    <c:v>LEO (n=7)</c:v>
                  </c:pt>
                  <c:pt idx="6">
                    <c:v>PO (n=9)</c:v>
                  </c:pt>
                  <c:pt idx="7">
                    <c:v>MEO (n=3)</c:v>
                  </c:pt>
                  <c:pt idx="8">
                    <c:v>ISS (n=21)</c:v>
                  </c:pt>
                  <c:pt idx="9">
                    <c:v>GTO (n=27)</c:v>
                  </c:pt>
                  <c:pt idx="10">
                    <c:v>SO (n=1)</c:v>
                  </c:pt>
                </c:lvl>
              </c:multiLvlStrCache>
            </c:multiLvlStrRef>
          </c:cat>
          <c:val>
            <c:numRef>
              <c:f>Sheet1!$B$2:$B$12</c:f>
              <c:numCache>
                <c:formatCode>General</c:formatCode>
                <c:ptCount val="11"/>
                <c:pt idx="0">
                  <c:v>1</c:v>
                </c:pt>
                <c:pt idx="1">
                  <c:v>1</c:v>
                </c:pt>
                <c:pt idx="2">
                  <c:v>1</c:v>
                </c:pt>
                <c:pt idx="3">
                  <c:v>1</c:v>
                </c:pt>
                <c:pt idx="4">
                  <c:v>0.857</c:v>
                </c:pt>
                <c:pt idx="5">
                  <c:v>0.714</c:v>
                </c:pt>
                <c:pt idx="6">
                  <c:v>0.667</c:v>
                </c:pt>
                <c:pt idx="7">
                  <c:v>0.667</c:v>
                </c:pt>
                <c:pt idx="8">
                  <c:v>0.619</c:v>
                </c:pt>
                <c:pt idx="9">
                  <c:v>0.519</c:v>
                </c:pt>
                <c:pt idx="10">
                  <c:v>0</c:v>
                </c:pt>
              </c:numCache>
            </c:numRef>
          </c:val>
        </c:ser>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1"/>
          <c:min val="0"/>
        </c:scaling>
        <c:delete val="1"/>
        <c:axPos val="b"/>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Success rate</c:v>
                </c:pt>
              </c:strCache>
            </c:strRef>
          </c:tx>
          <c:spPr>
            <a:solidFill>
              <a:srgbClr val="FC7A1E"/>
            </a:solidFill>
            <a:ln w="38100" cap="flat">
              <a:solidFill>
                <a:srgbClr val="FC7A1E"/>
              </a:solidFill>
              <a:prstDash val="solid"/>
              <a:round/>
            </a:ln>
            <a:effectLst/>
          </c:spPr>
          <c:invertIfNegative val="0"/>
          <c:dLbls>
            <c:numFmt formatCode="0%" sourceLinked="0"/>
            <c:txPr>
              <a:bodyPr/>
              <a:lstStyle/>
              <a:p>
                <a:pPr>
                  <a:defRPr b="0" i="0" strike="noStrike" sz="1000" u="none">
                    <a:solidFill>
                      <a:srgbClr val="1F2937"/>
                    </a:solidFill>
                    <a:latin typeface="Arial"/>
                  </a:defRPr>
                </a:pPr>
              </a:p>
            </c:txPr>
            <c:dLblPos val="t"/>
            <c:showLegendKey val="0"/>
            <c:showVal val="1"/>
            <c:showCatName val="0"/>
            <c:showSerName val="0"/>
            <c:showPercent val="0"/>
            <c:showBubbleSize val="0"/>
            <c:showLeaderLines val="0"/>
          </c:dLbls>
          <c:marker>
            <c:symbol val="circle"/>
            <c:size val="8"/>
            <c:spPr>
              <a:solidFill>
                <a:srgbClr val="FC7A1E"/>
              </a:solidFill>
              <a:ln w="9525" cap="flat">
                <a:solidFill>
                  <a:srgbClr val="FC7A1E"/>
                </a:solidFill>
                <a:prstDash val="solid"/>
                <a:round/>
              </a:ln>
              <a:effectLst/>
            </c:spPr>
          </c:marker>
          <c:cat>
            <c:multiLvlStrRef>
              <c:f>Sheet1!$A$2:$A$11</c:f>
              <c:multiLvlStrCache>
                <c:ptCount val="10"/>
                <c:lvl>
                  <c:pt idx="0">
                    <c:v>2010</c:v>
                  </c:pt>
                  <c:pt idx="1">
                    <c:v>2012</c:v>
                  </c:pt>
                  <c:pt idx="2">
                    <c:v>2013</c:v>
                  </c:pt>
                  <c:pt idx="3">
                    <c:v>2014</c:v>
                  </c:pt>
                  <c:pt idx="4">
                    <c:v>2015</c:v>
                  </c:pt>
                  <c:pt idx="5">
                    <c:v>2016</c:v>
                  </c:pt>
                  <c:pt idx="6">
                    <c:v>2017</c:v>
                  </c:pt>
                  <c:pt idx="7">
                    <c:v>2018</c:v>
                  </c:pt>
                  <c:pt idx="8">
                    <c:v>2019</c:v>
                  </c:pt>
                  <c:pt idx="9">
                    <c:v>2020</c:v>
                  </c:pt>
                </c:lvl>
              </c:multiLvlStrCache>
            </c:multiLvlStrRef>
          </c:cat>
          <c:val>
            <c:numRef>
              <c:f>Sheet1!$B$2:$B$11</c:f>
              <c:numCache>
                <c:formatCode>General</c:formatCode>
                <c:ptCount val="10"/>
                <c:pt idx="0">
                  <c:v>0</c:v>
                </c:pt>
                <c:pt idx="1">
                  <c:v>0</c:v>
                </c:pt>
                <c:pt idx="2">
                  <c:v>0</c:v>
                </c:pt>
                <c:pt idx="3">
                  <c:v>0.333</c:v>
                </c:pt>
                <c:pt idx="4">
                  <c:v>0.333</c:v>
                </c:pt>
                <c:pt idx="5">
                  <c:v>0.625</c:v>
                </c:pt>
                <c:pt idx="6">
                  <c:v>0.833</c:v>
                </c:pt>
                <c:pt idx="7">
                  <c:v>0.611</c:v>
                </c:pt>
                <c:pt idx="8">
                  <c:v>0.9</c:v>
                </c:pt>
                <c:pt idx="9">
                  <c:v>0.842</c:v>
                </c:pt>
              </c:numCache>
            </c:numRef>
          </c:val>
          <c:smooth val="0"/>
        </c:ser>
        <c:dLbls>
          <c:numFmt formatCode="0%" sourceLinked="0"/>
          <c:txPr>
            <a:bodyPr/>
            <a:lstStyle/>
            <a:p>
              <a:pPr>
                <a:defRPr b="0" i="0" strike="noStrike" sz="1000" u="none">
                  <a:solidFill>
                    <a:srgbClr val="1F2937"/>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Cross-validation accuracy</c:v>
                </c:pt>
              </c:strCache>
            </c:strRef>
          </c:tx>
          <c:spPr>
            <a:solidFill>
              <a:srgbClr val="14213D"/>
            </a:solidFill>
            <a:effectLst/>
          </c:spPr>
          <c:invertIfNegative val="0"/>
          <c:dLbls>
            <c:numFmt formatCode="0.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SVM</c:v>
                  </c:pt>
                  <c:pt idx="2">
                    <c:v>Decision Tree</c:v>
                  </c:pt>
                  <c:pt idx="3">
                    <c:v>KNN</c:v>
                  </c:pt>
                </c:lvl>
              </c:multiLvlStrCache>
            </c:multiLvlStrRef>
          </c:cat>
          <c:val>
            <c:numRef>
              <c:f>Sheet1!$B$2:$B$5</c:f>
              <c:numCache>
                <c:formatCode>General</c:formatCode>
                <c:ptCount val="4"/>
                <c:pt idx="0">
                  <c:v>0.8464</c:v>
                </c:pt>
                <c:pt idx="1">
                  <c:v>0.8482</c:v>
                </c:pt>
                <c:pt idx="2">
                  <c:v>0.8482</c:v>
                </c:pt>
                <c:pt idx="3">
                  <c:v>0.8482</c:v>
                </c:pt>
              </c:numCache>
            </c:numRef>
          </c:val>
        </c:ser>
        <c:ser>
          <c:idx val="1"/>
          <c:order val="1"/>
          <c:tx>
            <c:strRef>
              <c:f>Sheet1!$C$1</c:f>
              <c:strCache>
                <c:ptCount val="1"/>
                <c:pt idx="0">
                  <c:v>Test accuracy</c:v>
                </c:pt>
              </c:strCache>
            </c:strRef>
          </c:tx>
          <c:spPr>
            <a:solidFill>
              <a:srgbClr val="FC7A1E"/>
            </a:solidFill>
            <a:effectLst/>
          </c:spPr>
          <c:invertIfNegative val="0"/>
          <c:dLbls>
            <c:numFmt formatCode="0.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SVM</c:v>
                  </c:pt>
                  <c:pt idx="2">
                    <c:v>Decision Tree</c:v>
                  </c:pt>
                  <c:pt idx="3">
                    <c:v>KNN</c:v>
                  </c:pt>
                </c:lvl>
              </c:multiLvlStrCache>
            </c:multiLvlStrRef>
          </c:cat>
          <c:val>
            <c:numRef>
              <c:f>Sheet1!$C$2:$C$5</c:f>
              <c:numCache>
                <c:formatCode>General</c:formatCode>
                <c:ptCount val="4"/>
                <c:pt idx="0">
                  <c:v>0.8333</c:v>
                </c:pt>
                <c:pt idx="1">
                  <c:v>0.8333</c:v>
                </c:pt>
                <c:pt idx="2">
                  <c:v>0.8333</c:v>
                </c:pt>
                <c:pt idx="3">
                  <c:v>0.8333</c:v>
                </c:pt>
              </c:numCache>
            </c:numRef>
          </c:val>
        </c:ser>
        <c:dLbls>
          <c:numFmt formatCode="0.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9"/>
          <c:min val="0.7"/>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4213D"/>
                </a:solidFill>
                <a:latin typeface="Arial"/>
              </a:defRPr>
            </a:pPr>
            <a:r>
              <a:rPr sz="1100" b="0" i="0" u="none" strike="noStrike">
                <a:solidFill>
                  <a:srgbClr val="14213D"/>
                </a:solidFill>
                <a:latin typeface="Arial"/>
              </a:rPr>
              <a:t>Mean accuracy over 50 splits (majority-class baseline = 66.7%)</a:t>
            </a:r>
          </a:p>
        </c:rich>
      </c:tx>
      <c:layout/>
      <c:overlay val="0"/>
    </c:title>
    <c:autoTitleDeleted val="0"/>
    <c:plotArea>
      <c:layout/>
      <c:barChart>
        <c:barDir val="col"/>
        <c:grouping val="clustered"/>
        <c:varyColors val="0"/>
        <c:ser>
          <c:idx val="0"/>
          <c:order val="0"/>
          <c:tx>
            <c:strRef>
              <c:f>Sheet1!$B$1</c:f>
              <c:strCache>
                <c:ptCount val="1"/>
                <c:pt idx="0">
                  <c:v>Mean accuracy</c:v>
                </c:pt>
              </c:strCache>
            </c:strRef>
          </c:tx>
          <c:spPr>
            <a:solidFill>
              <a:srgbClr val="14213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SVM</c:v>
                  </c:pt>
                  <c:pt idx="2">
                    <c:v>Decision Tree</c:v>
                  </c:pt>
                  <c:pt idx="3">
                    <c:v>KNN</c:v>
                  </c:pt>
                </c:lvl>
              </c:multiLvlStrCache>
            </c:multiLvlStrRef>
          </c:cat>
          <c:val>
            <c:numRef>
              <c:f>Sheet1!$B$2:$B$5</c:f>
              <c:numCache>
                <c:formatCode>General</c:formatCode>
                <c:ptCount val="4"/>
                <c:pt idx="0">
                  <c:v>0.8256</c:v>
                </c:pt>
                <c:pt idx="1">
                  <c:v>0.8444</c:v>
                </c:pt>
                <c:pt idx="2">
                  <c:v>0.7511</c:v>
                </c:pt>
                <c:pt idx="3">
                  <c:v>0.8411</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9"/>
          <c:min val="0.6"/>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Landing success by payload band</a:t>
            </a:r>
          </a:p>
        </c:rich>
      </c:tx>
      <c:layout/>
      <c:overlay val="0"/>
    </c:title>
    <c:autoTitleDeleted val="0"/>
    <c:plotArea>
      <c:layout/>
      <c:barChart>
        <c:barDir val="col"/>
        <c:grouping val="clustered"/>
        <c:varyColors val="0"/>
        <c:ser>
          <c:idx val="0"/>
          <c:order val="0"/>
          <c:tx>
            <c:strRef>
              <c:f>Sheet1!$B$1</c:f>
              <c:strCache>
                <c:ptCount val="1"/>
                <c:pt idx="0">
                  <c:v>Landing success</c:v>
                </c:pt>
              </c:strCache>
            </c:strRef>
          </c:tx>
          <c:spPr>
            <a:solidFill>
              <a:srgbClr val="2A9D8F"/>
            </a:solidFill>
            <a:effectLst/>
          </c:spPr>
          <c:invertIfNegative val="0"/>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&lt;2k kg (n=12)</c:v>
                  </c:pt>
                  <c:pt idx="1">
                    <c:v>2-4k kg (n=27)</c:v>
                  </c:pt>
                  <c:pt idx="2">
                    <c:v>4-6k kg (n=16)</c:v>
                  </c:pt>
                  <c:pt idx="3">
                    <c:v>6-8k kg (n=12)</c:v>
                  </c:pt>
                  <c:pt idx="4">
                    <c:v>8k+ kg (n=23)</c:v>
                  </c:pt>
                </c:lvl>
              </c:multiLvlStrCache>
            </c:multiLvlStrRef>
          </c:cat>
          <c:val>
            <c:numRef>
              <c:f>Sheet1!$B$2:$B$6</c:f>
              <c:numCache>
                <c:formatCode>General</c:formatCode>
                <c:ptCount val="5"/>
                <c:pt idx="0">
                  <c:v>0.583</c:v>
                </c:pt>
                <c:pt idx="1">
                  <c:v>0.704</c:v>
                </c:pt>
                <c:pt idx="2">
                  <c:v>0.5</c:v>
                </c:pt>
                <c:pt idx="3">
                  <c:v>0.5</c:v>
                </c:pt>
                <c:pt idx="4">
                  <c:v>0.87</c:v>
                </c:pt>
              </c:numCache>
            </c:numRef>
          </c:val>
        </c:ser>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kautzarichramsyah/Applied-Data-Science-Capstone"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kautzarichramsyah/Applied-Data-Science-Capstone/blob/main/1_spacex_data_collection_api.ipynb"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kautzarichramsyah/Applied-Data-Science-Capstone/blob/main/2_webscraping_falcon9.ipynb"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kautzarichramsyah/Applied-Data-Science-Capstone/blob/main/3_data_wrangling.ipynb"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kautzarichramsyah/Applied-Data-Science-Capstone/blob/main/5_eda_dataviz.ipynb"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kautzarichramsyah/Applied-Data-Science-Capstone/blob/main/4_eda_with_sql.ipynb"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kautzarichramsyah/Applied-Data-Science-Capstone/blob/main/6_launch_site_location_folium.ipynb"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kautzarichramsyah/Applied-Data-Science-Capstone/blob/main/spacex_dash_app.py"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kautzarichramsyah/Applied-Data-Science-Capstone/blob/main/8_machine_learning_prediction.ipynb"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20040"/>
          </a:xfrm>
          <a:prstGeom prst="rect">
            <a:avLst/>
          </a:prstGeom>
          <a:noFill/>
          <a:ln/>
        </p:spPr>
        <p:txBody>
          <a:bodyPr wrap="square" lIns="0" tIns="0" rIns="0" bIns="0" rtlCol="0" anchor="ctr"/>
          <a:lstStyle/>
          <a:p>
            <a:pPr indent="0" marL="0">
              <a:buNone/>
            </a:pPr>
            <a:r>
              <a:rPr lang="en-US" sz="1300" b="1" spc="300" kern="0" dirty="0">
                <a:solidFill>
                  <a:srgbClr val="FC7A1E"/>
                </a:solidFill>
                <a:latin typeface="Calibri" pitchFamily="34" charset="0"/>
                <a:ea typeface="Calibri" pitchFamily="34" charset="-122"/>
                <a:cs typeface="Calibri" pitchFamily="34" charset="-120"/>
              </a:rPr>
              <a:t>IBM APPLIED DATA SCIENCE CAPSTONE</a:t>
            </a:r>
            <a:endParaRPr lang="en-US" sz="1300" dirty="0"/>
          </a:p>
        </p:txBody>
      </p:sp>
      <p:sp>
        <p:nvSpPr>
          <p:cNvPr id="3" name="Text 1"/>
          <p:cNvSpPr txBox="1"/>
          <p:nvPr/>
        </p:nvSpPr>
        <p:spPr>
          <a:xfrm>
            <a:off x="548640" y="1188720"/>
            <a:ext cx="804672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Will the First Stage Land?</a:t>
            </a:r>
            <a:endParaRPr lang="en-US" sz="4200" dirty="0"/>
          </a:p>
        </p:txBody>
      </p:sp>
      <p:sp>
        <p:nvSpPr>
          <p:cNvPr id="4" name="Text 2"/>
          <p:cNvSpPr txBox="1"/>
          <p:nvPr/>
        </p:nvSpPr>
        <p:spPr>
          <a:xfrm>
            <a:off x="548640" y="1965960"/>
            <a:ext cx="8046720" cy="457200"/>
          </a:xfrm>
          <a:prstGeom prst="rect">
            <a:avLst/>
          </a:prstGeom>
          <a:noFill/>
          <a:ln/>
        </p:spPr>
        <p:txBody>
          <a:bodyPr wrap="square" lIns="0" tIns="0" rIns="0" bIns="0" rtlCol="0" anchor="ctr"/>
          <a:lstStyle/>
          <a:p>
            <a:pPr indent="0" marL="0">
              <a:buNone/>
            </a:pPr>
            <a:r>
              <a:rPr lang="en-US" sz="2000" dirty="0">
                <a:solidFill>
                  <a:srgbClr val="C9D3E6"/>
                </a:solidFill>
                <a:latin typeface="Calibri" pitchFamily="34" charset="0"/>
                <a:ea typeface="Calibri" pitchFamily="34" charset="-122"/>
                <a:cs typeface="Calibri" pitchFamily="34" charset="-120"/>
              </a:rPr>
              <a:t>Predicting SpaceX Falcon 9 landing success to price a launch</a:t>
            </a:r>
            <a:endParaRPr lang="en-US" sz="2000" dirty="0"/>
          </a:p>
        </p:txBody>
      </p:sp>
      <p:sp>
        <p:nvSpPr>
          <p:cNvPr id="5" name="Text 3"/>
          <p:cNvSpPr txBox="1"/>
          <p:nvPr/>
        </p:nvSpPr>
        <p:spPr>
          <a:xfrm>
            <a:off x="548640" y="3108960"/>
            <a:ext cx="457200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Kautzar</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October 1, 2026</a:t>
            </a:r>
            <a:endParaRPr lang="en-US" sz="1500" dirty="0"/>
          </a:p>
        </p:txBody>
      </p:sp>
      <p:sp>
        <p:nvSpPr>
          <p:cNvPr id="6" name="Text 4"/>
          <p:cNvSpPr txBox="1"/>
          <p:nvPr/>
        </p:nvSpPr>
        <p:spPr>
          <a:xfrm>
            <a:off x="548640" y="4160520"/>
            <a:ext cx="8046720" cy="320040"/>
          </a:xfrm>
          <a:prstGeom prst="rect">
            <a:avLst/>
          </a:prstGeom>
          <a:noFill/>
          <a:ln/>
        </p:spPr>
        <p:txBody>
          <a:bodyPr wrap="square" lIns="0" tIns="0" rIns="0" bIns="0" rtlCol="0" anchor="ctr"/>
          <a:lstStyle/>
          <a:p>
            <a:pPr indent="0" marL="0">
              <a:buNone/>
            </a:pPr>
            <a:r>
              <a:rPr lang="en-US" sz="1200" dirty="0">
                <a:solidFill>
                  <a:srgbClr val="C9D3E6"/>
                </a:solidFill>
                <a:latin typeface="Calibri" pitchFamily="34" charset="0"/>
                <a:ea typeface="Calibri" pitchFamily="34" charset="-122"/>
                <a:cs typeface="Calibri" pitchFamily="34" charset="-120"/>
              </a:rPr>
              <a:t>GitHub repository: </a:t>
            </a:r>
            <a:pPr indent="0" marL="0">
              <a:buNone/>
            </a:pPr>
            <a:r>
              <a:rPr lang="en-US" sz="12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Outline</a:t>
            </a:r>
            <a:endParaRPr lang="en-US" sz="2600" dirty="0"/>
          </a:p>
        </p:txBody>
      </p:sp>
      <p:sp>
        <p:nvSpPr>
          <p:cNvPr id="4" name="Shape 2"/>
          <p:cNvSpPr/>
          <p:nvPr/>
        </p:nvSpPr>
        <p:spPr>
          <a:xfrm>
            <a:off x="457200" y="1143000"/>
            <a:ext cx="384048" cy="384048"/>
          </a:xfrm>
          <a:prstGeom prst="ellipse">
            <a:avLst/>
          </a:prstGeom>
          <a:solidFill>
            <a:srgbClr val="FC7A1E"/>
          </a:solidFill>
          <a:ln w="12700">
            <a:solidFill>
              <a:srgbClr val="FC7A1E"/>
            </a:solidFill>
            <a:prstDash val="solid"/>
          </a:ln>
        </p:spPr>
      </p:sp>
      <p:sp>
        <p:nvSpPr>
          <p:cNvPr id="5" name="Text 3"/>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05840" y="1097280"/>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Executive Summary</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3</a:t>
            </a:r>
            <a:endParaRPr lang="en-US" sz="1400" dirty="0"/>
          </a:p>
        </p:txBody>
      </p:sp>
      <p:sp>
        <p:nvSpPr>
          <p:cNvPr id="7" name="Shape 5"/>
          <p:cNvSpPr/>
          <p:nvPr/>
        </p:nvSpPr>
        <p:spPr>
          <a:xfrm>
            <a:off x="457200" y="1856232"/>
            <a:ext cx="384048" cy="384048"/>
          </a:xfrm>
          <a:prstGeom prst="ellipse">
            <a:avLst/>
          </a:prstGeom>
          <a:solidFill>
            <a:srgbClr val="14213D"/>
          </a:solidFill>
          <a:ln w="12700">
            <a:solidFill>
              <a:srgbClr val="14213D"/>
            </a:solidFill>
            <a:prstDash val="solid"/>
          </a:ln>
        </p:spPr>
      </p:sp>
      <p:sp>
        <p:nvSpPr>
          <p:cNvPr id="8" name="Text 6"/>
          <p:cNvSpPr txBox="1"/>
          <p:nvPr/>
        </p:nvSpPr>
        <p:spPr>
          <a:xfrm>
            <a:off x="457200"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05840" y="1810512"/>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Introduction</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4</a:t>
            </a:r>
            <a:endParaRPr lang="en-US" sz="1400" dirty="0"/>
          </a:p>
        </p:txBody>
      </p:sp>
      <p:sp>
        <p:nvSpPr>
          <p:cNvPr id="10" name="Shape 8"/>
          <p:cNvSpPr/>
          <p:nvPr/>
        </p:nvSpPr>
        <p:spPr>
          <a:xfrm>
            <a:off x="457200" y="2569464"/>
            <a:ext cx="384048" cy="384048"/>
          </a:xfrm>
          <a:prstGeom prst="ellipse">
            <a:avLst/>
          </a:prstGeom>
          <a:solidFill>
            <a:srgbClr val="FC7A1E"/>
          </a:solidFill>
          <a:ln w="12700">
            <a:solidFill>
              <a:srgbClr val="FC7A1E"/>
            </a:solidFill>
            <a:prstDash val="solid"/>
          </a:ln>
        </p:spPr>
      </p:sp>
      <p:sp>
        <p:nvSpPr>
          <p:cNvPr id="11" name="Text 9"/>
          <p:cNvSpPr txBox="1"/>
          <p:nvPr/>
        </p:nvSpPr>
        <p:spPr>
          <a:xfrm>
            <a:off x="457200" y="2569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005840" y="2523744"/>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Methodology</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5–16</a:t>
            </a:r>
            <a:endParaRPr lang="en-US" sz="1400" dirty="0"/>
          </a:p>
        </p:txBody>
      </p:sp>
      <p:sp>
        <p:nvSpPr>
          <p:cNvPr id="13" name="Shape 11"/>
          <p:cNvSpPr/>
          <p:nvPr/>
        </p:nvSpPr>
        <p:spPr>
          <a:xfrm>
            <a:off x="457200" y="3282696"/>
            <a:ext cx="384048" cy="384048"/>
          </a:xfrm>
          <a:prstGeom prst="ellipse">
            <a:avLst/>
          </a:prstGeom>
          <a:solidFill>
            <a:srgbClr val="14213D"/>
          </a:solidFill>
          <a:ln w="12700">
            <a:solidFill>
              <a:srgbClr val="14213D"/>
            </a:solidFill>
            <a:prstDash val="solid"/>
          </a:ln>
        </p:spPr>
      </p:sp>
      <p:sp>
        <p:nvSpPr>
          <p:cNvPr id="14" name="Text 12"/>
          <p:cNvSpPr txBox="1"/>
          <p:nvPr/>
        </p:nvSpPr>
        <p:spPr>
          <a:xfrm>
            <a:off x="45720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txBox="1"/>
          <p:nvPr/>
        </p:nvSpPr>
        <p:spPr>
          <a:xfrm>
            <a:off x="1005840" y="3236976"/>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Results: Insights drawn from EDA (visualization + SQL)</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17–33</a:t>
            </a:r>
            <a:endParaRPr lang="en-US" sz="1400" dirty="0"/>
          </a:p>
        </p:txBody>
      </p:sp>
      <p:sp>
        <p:nvSpPr>
          <p:cNvPr id="16" name="Shape 14"/>
          <p:cNvSpPr/>
          <p:nvPr/>
        </p:nvSpPr>
        <p:spPr>
          <a:xfrm>
            <a:off x="457200" y="3995928"/>
            <a:ext cx="384048" cy="384048"/>
          </a:xfrm>
          <a:prstGeom prst="ellipse">
            <a:avLst/>
          </a:prstGeom>
          <a:solidFill>
            <a:srgbClr val="FC7A1E"/>
          </a:solidFill>
          <a:ln w="12700">
            <a:solidFill>
              <a:srgbClr val="FC7A1E"/>
            </a:solidFill>
            <a:prstDash val="solid"/>
          </a:ln>
        </p:spPr>
      </p:sp>
      <p:sp>
        <p:nvSpPr>
          <p:cNvPr id="17" name="Text 15"/>
          <p:cNvSpPr txBox="1"/>
          <p:nvPr/>
        </p:nvSpPr>
        <p:spPr>
          <a:xfrm>
            <a:off x="457200" y="3995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txBox="1"/>
          <p:nvPr/>
        </p:nvSpPr>
        <p:spPr>
          <a:xfrm>
            <a:off x="1005840" y="3950208"/>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Results: Launch sites proximity analysis (Folium)</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34–37</a:t>
            </a:r>
            <a:endParaRPr lang="en-US" sz="1400" dirty="0"/>
          </a:p>
        </p:txBody>
      </p:sp>
      <p:sp>
        <p:nvSpPr>
          <p:cNvPr id="19" name="Shape 17"/>
          <p:cNvSpPr/>
          <p:nvPr/>
        </p:nvSpPr>
        <p:spPr>
          <a:xfrm>
            <a:off x="4663440" y="1143000"/>
            <a:ext cx="384048" cy="384048"/>
          </a:xfrm>
          <a:prstGeom prst="ellipse">
            <a:avLst/>
          </a:prstGeom>
          <a:solidFill>
            <a:srgbClr val="14213D"/>
          </a:solidFill>
          <a:ln w="12700">
            <a:solidFill>
              <a:srgbClr val="14213D"/>
            </a:solidFill>
            <a:prstDash val="solid"/>
          </a:ln>
        </p:spPr>
      </p:sp>
      <p:sp>
        <p:nvSpPr>
          <p:cNvPr id="20" name="Text 18"/>
          <p:cNvSpPr txBox="1"/>
          <p:nvPr/>
        </p:nvSpPr>
        <p:spPr>
          <a:xfrm>
            <a:off x="4663440" y="1143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txBox="1"/>
          <p:nvPr/>
        </p:nvSpPr>
        <p:spPr>
          <a:xfrm>
            <a:off x="5212080" y="1097280"/>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Results: Dashboard with Plotly Dash</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38–42</a:t>
            </a:r>
            <a:endParaRPr lang="en-US" sz="1400" dirty="0"/>
          </a:p>
        </p:txBody>
      </p:sp>
      <p:sp>
        <p:nvSpPr>
          <p:cNvPr id="22" name="Shape 20"/>
          <p:cNvSpPr/>
          <p:nvPr/>
        </p:nvSpPr>
        <p:spPr>
          <a:xfrm>
            <a:off x="4663440" y="1856232"/>
            <a:ext cx="384048" cy="384048"/>
          </a:xfrm>
          <a:prstGeom prst="ellipse">
            <a:avLst/>
          </a:prstGeom>
          <a:solidFill>
            <a:srgbClr val="FC7A1E"/>
          </a:solidFill>
          <a:ln w="12700">
            <a:solidFill>
              <a:srgbClr val="FC7A1E"/>
            </a:solidFill>
            <a:prstDash val="solid"/>
          </a:ln>
        </p:spPr>
      </p:sp>
      <p:sp>
        <p:nvSpPr>
          <p:cNvPr id="23" name="Text 21"/>
          <p:cNvSpPr txBox="1"/>
          <p:nvPr/>
        </p:nvSpPr>
        <p:spPr>
          <a:xfrm>
            <a:off x="4663440"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4" name="Text 22"/>
          <p:cNvSpPr txBox="1"/>
          <p:nvPr/>
        </p:nvSpPr>
        <p:spPr>
          <a:xfrm>
            <a:off x="5212080" y="1810512"/>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Results: Predictive analysis (classification)</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43–46</a:t>
            </a:r>
            <a:endParaRPr lang="en-US" sz="1400" dirty="0"/>
          </a:p>
        </p:txBody>
      </p:sp>
      <p:sp>
        <p:nvSpPr>
          <p:cNvPr id="25" name="Shape 23"/>
          <p:cNvSpPr/>
          <p:nvPr/>
        </p:nvSpPr>
        <p:spPr>
          <a:xfrm>
            <a:off x="4663440" y="2569464"/>
            <a:ext cx="384048" cy="384048"/>
          </a:xfrm>
          <a:prstGeom prst="ellipse">
            <a:avLst/>
          </a:prstGeom>
          <a:solidFill>
            <a:srgbClr val="14213D"/>
          </a:solidFill>
          <a:ln w="12700">
            <a:solidFill>
              <a:srgbClr val="14213D"/>
            </a:solidFill>
            <a:prstDash val="solid"/>
          </a:ln>
        </p:spPr>
      </p:sp>
      <p:sp>
        <p:nvSpPr>
          <p:cNvPr id="26" name="Text 24"/>
          <p:cNvSpPr txBox="1"/>
          <p:nvPr/>
        </p:nvSpPr>
        <p:spPr>
          <a:xfrm>
            <a:off x="4663440" y="2569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7" name="Text 25"/>
          <p:cNvSpPr txBox="1"/>
          <p:nvPr/>
        </p:nvSpPr>
        <p:spPr>
          <a:xfrm>
            <a:off x="5212080" y="2523744"/>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Conclusion and innovative insights</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47–48</a:t>
            </a:r>
            <a:endParaRPr lang="en-US" sz="1400" dirty="0"/>
          </a:p>
        </p:txBody>
      </p:sp>
      <p:sp>
        <p:nvSpPr>
          <p:cNvPr id="28" name="Shape 26"/>
          <p:cNvSpPr/>
          <p:nvPr/>
        </p:nvSpPr>
        <p:spPr>
          <a:xfrm>
            <a:off x="4663440" y="3282696"/>
            <a:ext cx="384048" cy="384048"/>
          </a:xfrm>
          <a:prstGeom prst="ellipse">
            <a:avLst/>
          </a:prstGeom>
          <a:solidFill>
            <a:srgbClr val="FC7A1E"/>
          </a:solidFill>
          <a:ln w="12700">
            <a:solidFill>
              <a:srgbClr val="FC7A1E"/>
            </a:solidFill>
            <a:prstDash val="solid"/>
          </a:ln>
        </p:spPr>
      </p:sp>
      <p:sp>
        <p:nvSpPr>
          <p:cNvPr id="29" name="Text 27"/>
          <p:cNvSpPr txBox="1"/>
          <p:nvPr/>
        </p:nvSpPr>
        <p:spPr>
          <a:xfrm>
            <a:off x="466344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0" name="Text 28"/>
          <p:cNvSpPr txBox="1"/>
          <p:nvPr/>
        </p:nvSpPr>
        <p:spPr>
          <a:xfrm>
            <a:off x="5212080" y="3236976"/>
            <a:ext cx="356616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Appendix</a:t>
            </a:r>
            <a:endParaRPr lang="en-US" sz="1400" dirty="0"/>
          </a:p>
          <a:p>
            <a:pPr indent="0" marL="0">
              <a:buNone/>
            </a:pPr>
            <a:r>
              <a:rPr lang="en-US" sz="1100" dirty="0">
                <a:solidFill>
                  <a:srgbClr val="6B7280"/>
                </a:solidFill>
                <a:latin typeface="Calibri" pitchFamily="34" charset="0"/>
                <a:ea typeface="Calibri" pitchFamily="34" charset="-122"/>
                <a:cs typeface="Calibri" pitchFamily="34" charset="-120"/>
              </a:rPr>
              <a:t>Slides 49</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Executive Summary</a:t>
            </a:r>
            <a:endParaRPr lang="en-US" sz="2600" dirty="0"/>
          </a:p>
        </p:txBody>
      </p:sp>
      <p:sp>
        <p:nvSpPr>
          <p:cNvPr id="4" name="Shape 2"/>
          <p:cNvSpPr/>
          <p:nvPr/>
        </p:nvSpPr>
        <p:spPr>
          <a:xfrm>
            <a:off x="457200" y="1097280"/>
            <a:ext cx="1920240" cy="1325880"/>
          </a:xfrm>
          <a:prstGeom prst="roundRect">
            <a:avLst>
              <a:gd name="adj" fmla="val 5517"/>
            </a:avLst>
          </a:prstGeom>
          <a:solidFill>
            <a:srgbClr val="F1F4F9"/>
          </a:solidFill>
          <a:ln w="12700">
            <a:solidFill>
              <a:srgbClr val="F1F4F9"/>
            </a:solidFill>
            <a:prstDash val="solid"/>
          </a:ln>
        </p:spPr>
      </p:sp>
      <p:sp>
        <p:nvSpPr>
          <p:cNvPr id="5" name="Text 3"/>
          <p:cNvSpPr txBox="1"/>
          <p:nvPr/>
        </p:nvSpPr>
        <p:spPr>
          <a:xfrm>
            <a:off x="594360" y="1188720"/>
            <a:ext cx="16459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90</a:t>
            </a:r>
            <a:endParaRPr lang="en-US" sz="3200" dirty="0"/>
          </a:p>
        </p:txBody>
      </p:sp>
      <p:sp>
        <p:nvSpPr>
          <p:cNvPr id="6" name="Text 4"/>
          <p:cNvSpPr txBox="1"/>
          <p:nvPr/>
        </p:nvSpPr>
        <p:spPr>
          <a:xfrm>
            <a:off x="594360" y="1810512"/>
            <a:ext cx="164592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Falcon 9 launches analysed (2010–2020)</a:t>
            </a:r>
            <a:endParaRPr lang="en-US" sz="1150" dirty="0"/>
          </a:p>
        </p:txBody>
      </p:sp>
      <p:sp>
        <p:nvSpPr>
          <p:cNvPr id="7" name="Shape 5"/>
          <p:cNvSpPr/>
          <p:nvPr/>
        </p:nvSpPr>
        <p:spPr>
          <a:xfrm>
            <a:off x="2560320" y="1097280"/>
            <a:ext cx="1920240" cy="1325880"/>
          </a:xfrm>
          <a:prstGeom prst="roundRect">
            <a:avLst>
              <a:gd name="adj" fmla="val 5517"/>
            </a:avLst>
          </a:prstGeom>
          <a:solidFill>
            <a:srgbClr val="F1F4F9"/>
          </a:solidFill>
          <a:ln w="12700">
            <a:solidFill>
              <a:srgbClr val="F1F4F9"/>
            </a:solidFill>
            <a:prstDash val="solid"/>
          </a:ln>
        </p:spPr>
      </p:sp>
      <p:sp>
        <p:nvSpPr>
          <p:cNvPr id="8" name="Text 6"/>
          <p:cNvSpPr txBox="1"/>
          <p:nvPr/>
        </p:nvSpPr>
        <p:spPr>
          <a:xfrm>
            <a:off x="2697480" y="1188720"/>
            <a:ext cx="16459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66.7%</a:t>
            </a:r>
            <a:endParaRPr lang="en-US" sz="3200" dirty="0"/>
          </a:p>
        </p:txBody>
      </p:sp>
      <p:sp>
        <p:nvSpPr>
          <p:cNvPr id="9" name="Text 7"/>
          <p:cNvSpPr txBox="1"/>
          <p:nvPr/>
        </p:nvSpPr>
        <p:spPr>
          <a:xfrm>
            <a:off x="2697480" y="1810512"/>
            <a:ext cx="164592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first stages that landed successfully</a:t>
            </a:r>
            <a:endParaRPr lang="en-US" sz="1150" dirty="0"/>
          </a:p>
        </p:txBody>
      </p:sp>
      <p:sp>
        <p:nvSpPr>
          <p:cNvPr id="10" name="Shape 8"/>
          <p:cNvSpPr/>
          <p:nvPr/>
        </p:nvSpPr>
        <p:spPr>
          <a:xfrm>
            <a:off x="4663440" y="1097280"/>
            <a:ext cx="1920240" cy="1325880"/>
          </a:xfrm>
          <a:prstGeom prst="roundRect">
            <a:avLst>
              <a:gd name="adj" fmla="val 5517"/>
            </a:avLst>
          </a:prstGeom>
          <a:solidFill>
            <a:srgbClr val="F1F4F9"/>
          </a:solidFill>
          <a:ln w="12700">
            <a:solidFill>
              <a:srgbClr val="F1F4F9"/>
            </a:solidFill>
            <a:prstDash val="solid"/>
          </a:ln>
        </p:spPr>
      </p:sp>
      <p:sp>
        <p:nvSpPr>
          <p:cNvPr id="11" name="Text 9"/>
          <p:cNvSpPr txBox="1"/>
          <p:nvPr/>
        </p:nvSpPr>
        <p:spPr>
          <a:xfrm>
            <a:off x="4800600" y="1188720"/>
            <a:ext cx="1645920" cy="640080"/>
          </a:xfrm>
          <a:prstGeom prst="rect">
            <a:avLst/>
          </a:prstGeom>
          <a:noFill/>
          <a:ln/>
        </p:spPr>
        <p:txBody>
          <a:bodyPr wrap="square" lIns="0" tIns="0" rIns="0" bIns="0" rtlCol="0" anchor="ctr"/>
          <a:lstStyle/>
          <a:p>
            <a:pPr indent="0" marL="0">
              <a:buNone/>
            </a:pPr>
            <a:r>
              <a:rPr lang="en-US" sz="3200" b="1" dirty="0">
                <a:solidFill>
                  <a:srgbClr val="FC7A1E"/>
                </a:solidFill>
                <a:latin typeface="Cambria" pitchFamily="34" charset="0"/>
                <a:ea typeface="Cambria" pitchFamily="34" charset="-122"/>
                <a:cs typeface="Cambria" pitchFamily="34" charset="-120"/>
              </a:rPr>
              <a:t>83.3%</a:t>
            </a:r>
            <a:endParaRPr lang="en-US" sz="3200" dirty="0"/>
          </a:p>
        </p:txBody>
      </p:sp>
      <p:sp>
        <p:nvSpPr>
          <p:cNvPr id="12" name="Text 10"/>
          <p:cNvSpPr txBox="1"/>
          <p:nvPr/>
        </p:nvSpPr>
        <p:spPr>
          <a:xfrm>
            <a:off x="4800600" y="1810512"/>
            <a:ext cx="164592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test accuracy (15 of 18 launches)</a:t>
            </a:r>
            <a:endParaRPr lang="en-US" sz="1150" dirty="0"/>
          </a:p>
        </p:txBody>
      </p:sp>
      <p:sp>
        <p:nvSpPr>
          <p:cNvPr id="13" name="Shape 11"/>
          <p:cNvSpPr/>
          <p:nvPr/>
        </p:nvSpPr>
        <p:spPr>
          <a:xfrm>
            <a:off x="6766560" y="1097280"/>
            <a:ext cx="1920240" cy="1325880"/>
          </a:xfrm>
          <a:prstGeom prst="roundRect">
            <a:avLst>
              <a:gd name="adj" fmla="val 5517"/>
            </a:avLst>
          </a:prstGeom>
          <a:solidFill>
            <a:srgbClr val="F1F4F9"/>
          </a:solidFill>
          <a:ln w="12700">
            <a:solidFill>
              <a:srgbClr val="F1F4F9"/>
            </a:solidFill>
            <a:prstDash val="solid"/>
          </a:ln>
        </p:spPr>
      </p:sp>
      <p:sp>
        <p:nvSpPr>
          <p:cNvPr id="14" name="Text 12"/>
          <p:cNvSpPr txBox="1"/>
          <p:nvPr/>
        </p:nvSpPr>
        <p:spPr>
          <a:xfrm>
            <a:off x="6903720" y="1188720"/>
            <a:ext cx="1645920" cy="64008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84.4%</a:t>
            </a:r>
            <a:endParaRPr lang="en-US" sz="3200" dirty="0"/>
          </a:p>
        </p:txBody>
      </p:sp>
      <p:sp>
        <p:nvSpPr>
          <p:cNvPr id="15" name="Text 13"/>
          <p:cNvSpPr txBox="1"/>
          <p:nvPr/>
        </p:nvSpPr>
        <p:spPr>
          <a:xfrm>
            <a:off x="6903720" y="1810512"/>
            <a:ext cx="164592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SVM accuracy across 50 data splits</a:t>
            </a:r>
            <a:endParaRPr lang="en-US" sz="1150" dirty="0"/>
          </a:p>
        </p:txBody>
      </p:sp>
      <p:sp>
        <p:nvSpPr>
          <p:cNvPr id="16" name="Text 14"/>
          <p:cNvSpPr txBox="1"/>
          <p:nvPr/>
        </p:nvSpPr>
        <p:spPr>
          <a:xfrm>
            <a:off x="457200" y="2651760"/>
            <a:ext cx="8229600" cy="2103120"/>
          </a:xfrm>
          <a:prstGeom prst="rect">
            <a:avLst/>
          </a:prstGeom>
          <a:noFill/>
          <a:ln/>
        </p:spPr>
        <p:txBody>
          <a:bodyPr wrap="square" lIns="0" tIns="0" rIns="0" bIns="0" rtlCol="0" anchor="t"/>
          <a:lstStyle/>
          <a:p>
            <a:pPr marL="342900" indent="-342900">
              <a:spcAft>
                <a:spcPts val="500"/>
              </a:spcAft>
              <a:buSzPct val="100000"/>
              <a:buChar char="•"/>
            </a:pPr>
            <a:r>
              <a:rPr lang="en-US" sz="1250" b="1" dirty="0">
                <a:solidFill>
                  <a:srgbClr val="14213D"/>
                </a:solidFill>
                <a:latin typeface="Calibri" pitchFamily="34" charset="0"/>
                <a:ea typeface="Calibri" pitchFamily="34" charset="-122"/>
                <a:cs typeface="Calibri" pitchFamily="34" charset="-120"/>
              </a:rPr>
              <a:t>Methods: </a:t>
            </a:r>
            <a:pPr indent="0" marL="0">
              <a:spcAft>
                <a:spcPts val="500"/>
              </a:spcAft>
              <a:buNone/>
            </a:pPr>
            <a:r>
              <a:rPr lang="en-US" sz="1250" dirty="0">
                <a:solidFill>
                  <a:srgbClr val="1F2937"/>
                </a:solidFill>
                <a:latin typeface="Calibri" pitchFamily="34" charset="0"/>
                <a:ea typeface="Calibri" pitchFamily="34" charset="-122"/>
                <a:cs typeface="Calibri" pitchFamily="34" charset="-120"/>
              </a:rPr>
              <a:t>collected launch data from the SpaceX REST API and Wikipedia, cleaned it with pandas, explored it with SQL, seaborn, Folium and a Plotly Dash app, then tuned four classifiers with GridSearchCV.</a:t>
            </a:r>
            <a:endParaRPr lang="en-US" sz="1250" dirty="0"/>
          </a:p>
          <a:p>
            <a:pPr marL="342900" indent="-342900">
              <a:spcAft>
                <a:spcPts val="500"/>
              </a:spcAft>
              <a:buSzPct val="100000"/>
              <a:buChar char="•"/>
            </a:pPr>
            <a:r>
              <a:rPr lang="en-US" sz="1250" b="1" dirty="0">
                <a:solidFill>
                  <a:srgbClr val="14213D"/>
                </a:solidFill>
                <a:latin typeface="Calibri" pitchFamily="34" charset="0"/>
                <a:ea typeface="Calibri" pitchFamily="34" charset="-122"/>
                <a:cs typeface="Calibri" pitchFamily="34" charset="-120"/>
              </a:rPr>
              <a:t>What drives landing success: </a:t>
            </a:r>
            <a:pPr indent="0" marL="0">
              <a:spcAft>
                <a:spcPts val="500"/>
              </a:spcAft>
              <a:buNone/>
            </a:pPr>
            <a:r>
              <a:rPr lang="en-US" sz="1250" dirty="0">
                <a:solidFill>
                  <a:srgbClr val="1F2937"/>
                </a:solidFill>
                <a:latin typeface="Calibri" pitchFamily="34" charset="0"/>
                <a:ea typeface="Calibri" pitchFamily="34" charset="-122"/>
                <a:cs typeface="Calibri" pitchFamily="34" charset="-120"/>
              </a:rPr>
              <a:t>experience. Success rose from 0% (2010–2013) to 84–90% (2019–2020), and newer boosters (FT, B4, B5) land far more often than v1.0/v1.1.</a:t>
            </a:r>
            <a:endParaRPr lang="en-US" sz="1250" dirty="0"/>
          </a:p>
          <a:p>
            <a:pPr marL="342900" indent="-342900">
              <a:spcAft>
                <a:spcPts val="500"/>
              </a:spcAft>
              <a:buSzPct val="100000"/>
              <a:buChar char="•"/>
            </a:pPr>
            <a:r>
              <a:rPr lang="en-US" sz="1250" b="1" dirty="0">
                <a:solidFill>
                  <a:srgbClr val="14213D"/>
                </a:solidFill>
                <a:latin typeface="Calibri" pitchFamily="34" charset="0"/>
                <a:ea typeface="Calibri" pitchFamily="34" charset="-122"/>
                <a:cs typeface="Calibri" pitchFamily="34" charset="-120"/>
              </a:rPr>
              <a:t>Where and what: </a:t>
            </a:r>
            <a:pPr indent="0" marL="0">
              <a:spcAft>
                <a:spcPts val="500"/>
              </a:spcAft>
              <a:buNone/>
            </a:pPr>
            <a:r>
              <a:rPr lang="en-US" sz="1250" dirty="0">
                <a:solidFill>
                  <a:srgbClr val="1F2937"/>
                </a:solidFill>
                <a:latin typeface="Calibri" pitchFamily="34" charset="0"/>
                <a:ea typeface="Calibri" pitchFamily="34" charset="-122"/>
                <a:cs typeface="Calibri" pitchFamily="34" charset="-120"/>
              </a:rPr>
              <a:t>KSC LC-39A has the best record (76.9%); ES-L1, GEO, HEO and SSO orbits landed every time, GTO only 51.9%.</a:t>
            </a:r>
            <a:endParaRPr lang="en-US" sz="1250" dirty="0"/>
          </a:p>
          <a:p>
            <a:pPr marL="342900" indent="-342900">
              <a:spcAft>
                <a:spcPts val="500"/>
              </a:spcAft>
              <a:buSzPct val="100000"/>
              <a:buChar char="•"/>
            </a:pPr>
            <a:r>
              <a:rPr lang="en-US" sz="1250" b="1" dirty="0">
                <a:solidFill>
                  <a:srgbClr val="14213D"/>
                </a:solidFill>
                <a:latin typeface="Calibri" pitchFamily="34" charset="0"/>
                <a:ea typeface="Calibri" pitchFamily="34" charset="-122"/>
                <a:cs typeface="Calibri" pitchFamily="34" charset="-120"/>
              </a:rPr>
              <a:t>Prediction: </a:t>
            </a:r>
            <a:pPr indent="0" marL="0">
              <a:spcAft>
                <a:spcPts val="500"/>
              </a:spcAft>
              <a:buNone/>
            </a:pPr>
            <a:r>
              <a:rPr lang="en-US" sz="1250" dirty="0">
                <a:solidFill>
                  <a:srgbClr val="1F2937"/>
                </a:solidFill>
                <a:latin typeface="Calibri" pitchFamily="34" charset="0"/>
                <a:ea typeface="Calibri" pitchFamily="34" charset="-122"/>
                <a:cs typeface="Calibri" pitchFamily="34" charset="-120"/>
              </a:rPr>
              <a:t>all four tuned classifiers reach 83.3% on the 18-launch test set; across 50 resampled splits SVM is the best and most stable model (84.4%). Errors are false positives.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Introduction</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Space Y wants to bid against SpaceX — so it needs to know what a Falcon 9 launch really costs</a:t>
            </a:r>
            <a:endParaRPr lang="en-US" sz="1300" dirty="0"/>
          </a:p>
        </p:txBody>
      </p:sp>
      <p:sp>
        <p:nvSpPr>
          <p:cNvPr id="5" name="Shape 3"/>
          <p:cNvSpPr/>
          <p:nvPr/>
        </p:nvSpPr>
        <p:spPr>
          <a:xfrm>
            <a:off x="457200" y="1325880"/>
            <a:ext cx="3977640" cy="1463040"/>
          </a:xfrm>
          <a:prstGeom prst="roundRect">
            <a:avLst>
              <a:gd name="adj" fmla="val 5000"/>
            </a:avLst>
          </a:prstGeom>
          <a:solidFill>
            <a:srgbClr val="F1F4F9"/>
          </a:solidFill>
          <a:ln w="12700">
            <a:solidFill>
              <a:srgbClr val="F1F4F9"/>
            </a:solidFill>
            <a:prstDash val="solid"/>
          </a:ln>
        </p:spPr>
      </p:sp>
      <p:sp>
        <p:nvSpPr>
          <p:cNvPr id="6" name="Text 4"/>
          <p:cNvSpPr txBox="1"/>
          <p:nvPr/>
        </p:nvSpPr>
        <p:spPr>
          <a:xfrm>
            <a:off x="640080" y="1463040"/>
            <a:ext cx="3611880" cy="118872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BACKGROUND</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SpaceX advertises Falcon 9 launches at about $62 million; other providers charge upwards of $165 million. Most of the saving comes from landing and reusing the first stage.</a:t>
            </a:r>
            <a:endParaRPr lang="en-US" sz="1200" dirty="0"/>
          </a:p>
        </p:txBody>
      </p:sp>
      <p:sp>
        <p:nvSpPr>
          <p:cNvPr id="7" name="Shape 5"/>
          <p:cNvSpPr/>
          <p:nvPr/>
        </p:nvSpPr>
        <p:spPr>
          <a:xfrm>
            <a:off x="4709160" y="1325880"/>
            <a:ext cx="3977640" cy="1463040"/>
          </a:xfrm>
          <a:prstGeom prst="roundRect">
            <a:avLst>
              <a:gd name="adj" fmla="val 5000"/>
            </a:avLst>
          </a:prstGeom>
          <a:solidFill>
            <a:srgbClr val="F1F4F9"/>
          </a:solidFill>
          <a:ln w="12700">
            <a:solidFill>
              <a:srgbClr val="F1F4F9"/>
            </a:solidFill>
            <a:prstDash val="solid"/>
          </a:ln>
        </p:spPr>
      </p:sp>
      <p:sp>
        <p:nvSpPr>
          <p:cNvPr id="8" name="Text 6"/>
          <p:cNvSpPr txBox="1"/>
          <p:nvPr/>
        </p:nvSpPr>
        <p:spPr>
          <a:xfrm>
            <a:off x="4892040" y="1463040"/>
            <a:ext cx="3611880" cy="118872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WHY IT MATTERS</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If we can predict whether the first stage will land, we can estimate the true cost of a launch — the information a competing bidder needs.</a:t>
            </a:r>
            <a:endParaRPr lang="en-US" sz="1200" dirty="0"/>
          </a:p>
        </p:txBody>
      </p:sp>
      <p:sp>
        <p:nvSpPr>
          <p:cNvPr id="9" name="Text 7"/>
          <p:cNvSpPr txBox="1"/>
          <p:nvPr/>
        </p:nvSpPr>
        <p:spPr>
          <a:xfrm>
            <a:off x="457200" y="3017520"/>
            <a:ext cx="822960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Questions we set out to answer</a:t>
            </a:r>
            <a:endParaRPr lang="en-US" sz="1600" dirty="0"/>
          </a:p>
        </p:txBody>
      </p:sp>
      <p:sp>
        <p:nvSpPr>
          <p:cNvPr id="10" name="Text 8"/>
          <p:cNvSpPr txBox="1"/>
          <p:nvPr/>
        </p:nvSpPr>
        <p:spPr>
          <a:xfrm>
            <a:off x="457200" y="3401568"/>
            <a:ext cx="82296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How do payload mass, orbit, launch site and flight number affect landing success?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Has landing success improved over time, and with which booster versions?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Can a machine learning model predict a successful landing — and how reliably?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9D3E6"/>
                </a:solidFill>
                <a:latin typeface="Calibri" pitchFamily="34" charset="0"/>
                <a:ea typeface="Calibri" pitchFamily="34" charset="-122"/>
                <a:cs typeface="Calibri" pitchFamily="34" charset="-120"/>
              </a:rPr>
              <a:t>5</a:t>
            </a:r>
            <a:endParaRPr lang="en-US" sz="900" dirty="0"/>
          </a:p>
        </p:txBody>
      </p:sp>
      <p:sp>
        <p:nvSpPr>
          <p:cNvPr id="3" name="Text 1"/>
          <p:cNvSpPr txBox="1"/>
          <p:nvPr/>
        </p:nvSpPr>
        <p:spPr>
          <a:xfrm>
            <a:off x="548640" y="1371600"/>
            <a:ext cx="1828800" cy="914400"/>
          </a:xfrm>
          <a:prstGeom prst="rect">
            <a:avLst/>
          </a:prstGeom>
          <a:noFill/>
          <a:ln/>
        </p:spPr>
        <p:txBody>
          <a:bodyPr wrap="square" lIns="0" tIns="0" rIns="0" bIns="0" rtlCol="0" anchor="ctr"/>
          <a:lstStyle/>
          <a:p>
            <a:pPr indent="0" marL="0">
              <a:buNone/>
            </a:pPr>
            <a:r>
              <a:rPr lang="en-US" sz="6000" b="1" dirty="0">
                <a:solidFill>
                  <a:srgbClr val="FC7A1E"/>
                </a:solidFill>
                <a:latin typeface="Cambria" pitchFamily="34" charset="0"/>
                <a:ea typeface="Cambria" pitchFamily="34" charset="-122"/>
                <a:cs typeface="Cambria" pitchFamily="34" charset="-120"/>
              </a:rPr>
              <a:t>01</a:t>
            </a:r>
            <a:endParaRPr lang="en-US" sz="6000" dirty="0"/>
          </a:p>
        </p:txBody>
      </p:sp>
      <p:sp>
        <p:nvSpPr>
          <p:cNvPr id="4" name="Text 2"/>
          <p:cNvSpPr txBox="1"/>
          <p:nvPr/>
        </p:nvSpPr>
        <p:spPr>
          <a:xfrm>
            <a:off x="548640" y="2331720"/>
            <a:ext cx="7772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Methodology</a:t>
            </a:r>
            <a:endParaRPr lang="en-US" sz="3600" dirty="0"/>
          </a:p>
        </p:txBody>
      </p:sp>
      <p:sp>
        <p:nvSpPr>
          <p:cNvPr id="5" name="Text 3"/>
          <p:cNvSpPr txBox="1"/>
          <p:nvPr/>
        </p:nvSpPr>
        <p:spPr>
          <a:xfrm>
            <a:off x="548640" y="3063240"/>
            <a:ext cx="7772400" cy="457200"/>
          </a:xfrm>
          <a:prstGeom prst="rect">
            <a:avLst/>
          </a:prstGeom>
          <a:noFill/>
          <a:ln/>
        </p:spPr>
        <p:txBody>
          <a:bodyPr wrap="square" lIns="0" tIns="0" rIns="0" bIns="0" rtlCol="0" anchor="ctr"/>
          <a:lstStyle/>
          <a:p>
            <a:pPr indent="0" marL="0">
              <a:buNone/>
            </a:pPr>
            <a:r>
              <a:rPr lang="en-US" sz="1600" dirty="0">
                <a:solidFill>
                  <a:srgbClr val="C9D3E6"/>
                </a:solidFill>
                <a:latin typeface="Calibri" pitchFamily="34" charset="0"/>
                <a:ea typeface="Calibri" pitchFamily="34" charset="-122"/>
                <a:cs typeface="Calibri" pitchFamily="34" charset="-120"/>
              </a:rPr>
              <a:t>Data collection, wrangling, EDA, interactive analytics and classification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Methodology</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Executive summary of the methodology</a:t>
            </a:r>
            <a:endParaRPr lang="en-US" sz="1300" dirty="0"/>
          </a:p>
        </p:txBody>
      </p:sp>
      <p:sp>
        <p:nvSpPr>
          <p:cNvPr id="5" name="Shape 3"/>
          <p:cNvSpPr/>
          <p:nvPr/>
        </p:nvSpPr>
        <p:spPr>
          <a:xfrm>
            <a:off x="457200" y="1188720"/>
            <a:ext cx="384048" cy="384048"/>
          </a:xfrm>
          <a:prstGeom prst="ellipse">
            <a:avLst/>
          </a:prstGeom>
          <a:solidFill>
            <a:srgbClr val="FC7A1E"/>
          </a:solidFill>
          <a:ln w="12700">
            <a:solidFill>
              <a:srgbClr val="FC7A1E"/>
            </a:solidFill>
            <a:prstDash val="solid"/>
          </a:ln>
        </p:spPr>
      </p:sp>
      <p:sp>
        <p:nvSpPr>
          <p:cNvPr id="6" name="Text 4"/>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05840" y="1115568"/>
            <a:ext cx="7680960" cy="5486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Data collection:  </a:t>
            </a:r>
            <a:pPr indent="0" marL="0">
              <a:buNone/>
            </a:pPr>
            <a:r>
              <a:rPr lang="en-US" sz="1300" dirty="0">
                <a:solidFill>
                  <a:srgbClr val="1F2937"/>
                </a:solidFill>
                <a:latin typeface="Calibri" pitchFamily="34" charset="0"/>
                <a:ea typeface="Calibri" pitchFamily="34" charset="-122"/>
                <a:cs typeface="Calibri" pitchFamily="34" charset="-120"/>
              </a:rPr>
              <a:t>SpaceX REST API (requests + json_normalize) and web scraping of Wikipedia (BeautifulSoup)</a:t>
            </a:r>
            <a:endParaRPr lang="en-US" sz="1300" dirty="0"/>
          </a:p>
        </p:txBody>
      </p:sp>
      <p:sp>
        <p:nvSpPr>
          <p:cNvPr id="8" name="Shape 6"/>
          <p:cNvSpPr/>
          <p:nvPr/>
        </p:nvSpPr>
        <p:spPr>
          <a:xfrm>
            <a:off x="457200" y="1874520"/>
            <a:ext cx="384048" cy="384048"/>
          </a:xfrm>
          <a:prstGeom prst="ellipse">
            <a:avLst/>
          </a:prstGeom>
          <a:solidFill>
            <a:srgbClr val="14213D"/>
          </a:solidFill>
          <a:ln w="12700">
            <a:solidFill>
              <a:srgbClr val="14213D"/>
            </a:solidFill>
            <a:prstDash val="solid"/>
          </a:ln>
        </p:spPr>
      </p:sp>
      <p:sp>
        <p:nvSpPr>
          <p:cNvPr id="9" name="Text 7"/>
          <p:cNvSpPr txBox="1"/>
          <p:nvPr/>
        </p:nvSpPr>
        <p:spPr>
          <a:xfrm>
            <a:off x="45720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05840" y="1801368"/>
            <a:ext cx="7680960" cy="5486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Data wrangling:  </a:t>
            </a:r>
            <a:pPr indent="0" marL="0">
              <a:buNone/>
            </a:pPr>
            <a:r>
              <a:rPr lang="en-US" sz="1300" dirty="0">
                <a:solidFill>
                  <a:srgbClr val="1F2937"/>
                </a:solidFill>
                <a:latin typeface="Calibri" pitchFamily="34" charset="0"/>
                <a:ea typeface="Calibri" pitchFamily="34" charset="-122"/>
                <a:cs typeface="Calibri" pitchFamily="34" charset="-120"/>
              </a:rPr>
              <a:t>Filter Falcon 9, fill missing payload with the mean, convert 8 landing outcomes into the Class label (1 = landed)</a:t>
            </a:r>
            <a:endParaRPr lang="en-US" sz="1300" dirty="0"/>
          </a:p>
        </p:txBody>
      </p:sp>
      <p:sp>
        <p:nvSpPr>
          <p:cNvPr id="11" name="Shape 9"/>
          <p:cNvSpPr/>
          <p:nvPr/>
        </p:nvSpPr>
        <p:spPr>
          <a:xfrm>
            <a:off x="457200" y="2560320"/>
            <a:ext cx="384048" cy="384048"/>
          </a:xfrm>
          <a:prstGeom prst="ellipse">
            <a:avLst/>
          </a:prstGeom>
          <a:solidFill>
            <a:srgbClr val="FC7A1E"/>
          </a:solidFill>
          <a:ln w="12700">
            <a:solidFill>
              <a:srgbClr val="FC7A1E"/>
            </a:solidFill>
            <a:prstDash val="solid"/>
          </a:ln>
        </p:spPr>
      </p:sp>
      <p:sp>
        <p:nvSpPr>
          <p:cNvPr id="12" name="Text 10"/>
          <p:cNvSpPr txBox="1"/>
          <p:nvPr/>
        </p:nvSpPr>
        <p:spPr>
          <a:xfrm>
            <a:off x="457200" y="2560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05840" y="2487168"/>
            <a:ext cx="7680960" cy="5486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EDA:  </a:t>
            </a:r>
            <a:pPr indent="0" marL="0">
              <a:buNone/>
            </a:pPr>
            <a:r>
              <a:rPr lang="en-US" sz="1300" dirty="0">
                <a:solidFill>
                  <a:srgbClr val="1F2937"/>
                </a:solidFill>
                <a:latin typeface="Calibri" pitchFamily="34" charset="0"/>
                <a:ea typeface="Calibri" pitchFamily="34" charset="-122"/>
                <a:cs typeface="Calibri" pitchFamily="34" charset="-120"/>
              </a:rPr>
              <a:t>Visualization (seaborn scatter, bar and line charts) and SQL queries on SQLite</a:t>
            </a:r>
            <a:endParaRPr lang="en-US" sz="1300" dirty="0"/>
          </a:p>
        </p:txBody>
      </p:sp>
      <p:sp>
        <p:nvSpPr>
          <p:cNvPr id="14" name="Shape 12"/>
          <p:cNvSpPr/>
          <p:nvPr/>
        </p:nvSpPr>
        <p:spPr>
          <a:xfrm>
            <a:off x="457200" y="3246120"/>
            <a:ext cx="384048" cy="384048"/>
          </a:xfrm>
          <a:prstGeom prst="ellipse">
            <a:avLst/>
          </a:prstGeom>
          <a:solidFill>
            <a:srgbClr val="14213D"/>
          </a:solidFill>
          <a:ln w="12700">
            <a:solidFill>
              <a:srgbClr val="14213D"/>
            </a:solidFill>
            <a:prstDash val="solid"/>
          </a:ln>
        </p:spPr>
      </p:sp>
      <p:sp>
        <p:nvSpPr>
          <p:cNvPr id="15" name="Text 13"/>
          <p:cNvSpPr txBox="1"/>
          <p:nvPr/>
        </p:nvSpPr>
        <p:spPr>
          <a:xfrm>
            <a:off x="457200" y="3246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005840" y="3172968"/>
            <a:ext cx="7680960" cy="5486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Interactive visual analytics:  </a:t>
            </a:r>
            <a:pPr indent="0" marL="0">
              <a:buNone/>
            </a:pPr>
            <a:r>
              <a:rPr lang="en-US" sz="1300" dirty="0">
                <a:solidFill>
                  <a:srgbClr val="1F2937"/>
                </a:solidFill>
                <a:latin typeface="Calibri" pitchFamily="34" charset="0"/>
                <a:ea typeface="Calibri" pitchFamily="34" charset="-122"/>
                <a:cs typeface="Calibri" pitchFamily="34" charset="-120"/>
              </a:rPr>
              <a:t>Folium maps (markers, clusters, distance lines) and a Plotly Dash dashboard</a:t>
            </a:r>
            <a:endParaRPr lang="en-US" sz="1300" dirty="0"/>
          </a:p>
        </p:txBody>
      </p:sp>
      <p:sp>
        <p:nvSpPr>
          <p:cNvPr id="17" name="Shape 15"/>
          <p:cNvSpPr/>
          <p:nvPr/>
        </p:nvSpPr>
        <p:spPr>
          <a:xfrm>
            <a:off x="457200" y="3931920"/>
            <a:ext cx="384048" cy="384048"/>
          </a:xfrm>
          <a:prstGeom prst="ellipse">
            <a:avLst/>
          </a:prstGeom>
          <a:solidFill>
            <a:srgbClr val="FC7A1E"/>
          </a:solidFill>
          <a:ln w="12700">
            <a:solidFill>
              <a:srgbClr val="FC7A1E"/>
            </a:solidFill>
            <a:prstDash val="solid"/>
          </a:ln>
        </p:spPr>
      </p:sp>
      <p:sp>
        <p:nvSpPr>
          <p:cNvPr id="18" name="Text 16"/>
          <p:cNvSpPr txBox="1"/>
          <p:nvPr/>
        </p:nvSpPr>
        <p:spPr>
          <a:xfrm>
            <a:off x="457200" y="3931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005840" y="3858768"/>
            <a:ext cx="7680960" cy="5486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Predictive analysis:  </a:t>
            </a:r>
            <a:pPr indent="0" marL="0">
              <a:buNone/>
            </a:pPr>
            <a:r>
              <a:rPr lang="en-US" sz="1300" dirty="0">
                <a:solidFill>
                  <a:srgbClr val="1F2937"/>
                </a:solidFill>
                <a:latin typeface="Calibri" pitchFamily="34" charset="0"/>
                <a:ea typeface="Calibri" pitchFamily="34" charset="-122"/>
                <a:cs typeface="Calibri" pitchFamily="34" charset="-120"/>
              </a:rPr>
              <a:t>Standardize, split 80/20, tune LR / SVM / Decision Tree / KNN with GridSearchCV (cv=10), evaluate on the test set and with repeated cross-validation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Collection</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Two complementary sources for 2010–2020 Falcon 9 launches</a:t>
            </a:r>
            <a:endParaRPr lang="en-US" sz="1300" dirty="0"/>
          </a:p>
        </p:txBody>
      </p:sp>
      <p:sp>
        <p:nvSpPr>
          <p:cNvPr id="5" name="Shape 3"/>
          <p:cNvSpPr/>
          <p:nvPr/>
        </p:nvSpPr>
        <p:spPr>
          <a:xfrm>
            <a:off x="457200" y="1280160"/>
            <a:ext cx="3977640" cy="2011680"/>
          </a:xfrm>
          <a:prstGeom prst="roundRect">
            <a:avLst>
              <a:gd name="adj" fmla="val 3636"/>
            </a:avLst>
          </a:prstGeom>
          <a:solidFill>
            <a:srgbClr val="F1F4F9"/>
          </a:solidFill>
          <a:ln w="12700">
            <a:solidFill>
              <a:srgbClr val="F1F4F9"/>
            </a:solidFill>
            <a:prstDash val="solid"/>
          </a:ln>
        </p:spPr>
      </p:sp>
      <p:sp>
        <p:nvSpPr>
          <p:cNvPr id="6" name="Text 4"/>
          <p:cNvSpPr txBox="1"/>
          <p:nvPr/>
        </p:nvSpPr>
        <p:spPr>
          <a:xfrm>
            <a:off x="640080" y="1417320"/>
            <a:ext cx="3611880" cy="17373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SPACEX REST API</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GET api.spacexdata.com/v4/launches/past (IBM static snapshot for consistent results). IDs for rocket, launchpad, payload and core are resolved with extra API calls to get booster version, site coordinates, payload mass, orbit, landing outcome, reuse and block.</a:t>
            </a:r>
            <a:endParaRPr lang="en-US" sz="1200" dirty="0"/>
          </a:p>
        </p:txBody>
      </p:sp>
      <p:sp>
        <p:nvSpPr>
          <p:cNvPr id="7" name="Shape 5"/>
          <p:cNvSpPr/>
          <p:nvPr/>
        </p:nvSpPr>
        <p:spPr>
          <a:xfrm>
            <a:off x="4709160" y="1280160"/>
            <a:ext cx="3977640" cy="2011680"/>
          </a:xfrm>
          <a:prstGeom prst="roundRect">
            <a:avLst>
              <a:gd name="adj" fmla="val 3636"/>
            </a:avLst>
          </a:prstGeom>
          <a:solidFill>
            <a:srgbClr val="F1F4F9"/>
          </a:solidFill>
          <a:ln w="12700">
            <a:solidFill>
              <a:srgbClr val="F1F4F9"/>
            </a:solidFill>
            <a:prstDash val="solid"/>
          </a:ln>
        </p:spPr>
      </p:sp>
      <p:sp>
        <p:nvSpPr>
          <p:cNvPr id="8" name="Text 6"/>
          <p:cNvSpPr txBox="1"/>
          <p:nvPr/>
        </p:nvSpPr>
        <p:spPr>
          <a:xfrm>
            <a:off x="4892040" y="1417320"/>
            <a:ext cx="3611880" cy="17373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WIKIPEDIA WEB SCRAPING</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"List of Falcon 9 and Falcon Heavy launches" (9 June 2021 revision). HTML launch tables are parsed with BeautifulSoup into flight number, date, booster, site, payload, orbit, customer and outcomes.</a:t>
            </a:r>
            <a:endParaRPr lang="en-US" sz="1200" dirty="0"/>
          </a:p>
        </p:txBody>
      </p:sp>
      <p:sp>
        <p:nvSpPr>
          <p:cNvPr id="9" name="Text 7"/>
          <p:cNvSpPr txBox="1"/>
          <p:nvPr/>
        </p:nvSpPr>
        <p:spPr>
          <a:xfrm>
            <a:off x="457200" y="352044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Result: </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90 Falcon 9 launches × 17 columns (API) and 121 scraped launch records, saved as CSV for wrangling.</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Cleaning: </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Falcon 1 launches removed; 5 missing PayloadMass values replaced with the mean; 26 missing LandingPad values kept (no landing pad used).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Collection – SpaceX API</a:t>
            </a:r>
            <a:endParaRPr lang="en-US" sz="2600" dirty="0"/>
          </a:p>
        </p:txBody>
      </p:sp>
      <p:sp>
        <p:nvSpPr>
          <p:cNvPr id="4" name="Shape 2"/>
          <p:cNvSpPr/>
          <p:nvPr/>
        </p:nvSpPr>
        <p:spPr>
          <a:xfrm>
            <a:off x="457200" y="1097280"/>
            <a:ext cx="1463040" cy="1325880"/>
          </a:xfrm>
          <a:prstGeom prst="roundRect">
            <a:avLst>
              <a:gd name="adj" fmla="val 5517"/>
            </a:avLst>
          </a:prstGeom>
          <a:solidFill>
            <a:srgbClr val="F1F4F9"/>
          </a:solidFill>
          <a:ln w="12700">
            <a:solidFill>
              <a:srgbClr val="F1F4F9"/>
            </a:solidFill>
            <a:prstDash val="solid"/>
          </a:ln>
        </p:spPr>
      </p:sp>
      <p:sp>
        <p:nvSpPr>
          <p:cNvPr id="5" name="Shape 3"/>
          <p:cNvSpPr/>
          <p:nvPr/>
        </p:nvSpPr>
        <p:spPr>
          <a:xfrm>
            <a:off x="594360" y="1234440"/>
            <a:ext cx="384048" cy="384048"/>
          </a:xfrm>
          <a:prstGeom prst="ellipse">
            <a:avLst/>
          </a:prstGeom>
          <a:solidFill>
            <a:srgbClr val="14213D"/>
          </a:solidFill>
          <a:ln w="12700">
            <a:solidFill>
              <a:srgbClr val="14213D"/>
            </a:solidFill>
            <a:prstDash val="solid"/>
          </a:ln>
        </p:spPr>
      </p:sp>
      <p:sp>
        <p:nvSpPr>
          <p:cNvPr id="6" name="Text 4"/>
          <p:cNvSpPr txBox="1"/>
          <p:nvPr/>
        </p:nvSpPr>
        <p:spPr>
          <a:xfrm>
            <a:off x="59436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59436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GET request</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Launch data from the SpaceX REST API</a:t>
            </a:r>
            <a:endParaRPr lang="en-US" sz="1250" dirty="0"/>
          </a:p>
        </p:txBody>
      </p:sp>
      <p:sp>
        <p:nvSpPr>
          <p:cNvPr id="8" name="Text 6"/>
          <p:cNvSpPr txBox="1"/>
          <p:nvPr/>
        </p:nvSpPr>
        <p:spPr>
          <a:xfrm>
            <a:off x="1901952" y="150876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9" name="Shape 7"/>
          <p:cNvSpPr/>
          <p:nvPr/>
        </p:nvSpPr>
        <p:spPr>
          <a:xfrm>
            <a:off x="2148840" y="1097280"/>
            <a:ext cx="1463040" cy="1325880"/>
          </a:xfrm>
          <a:prstGeom prst="roundRect">
            <a:avLst>
              <a:gd name="adj" fmla="val 5517"/>
            </a:avLst>
          </a:prstGeom>
          <a:solidFill>
            <a:srgbClr val="F1F4F9"/>
          </a:solidFill>
          <a:ln w="12700">
            <a:solidFill>
              <a:srgbClr val="F1F4F9"/>
            </a:solidFill>
            <a:prstDash val="solid"/>
          </a:ln>
        </p:spPr>
      </p:sp>
      <p:sp>
        <p:nvSpPr>
          <p:cNvPr id="10" name="Shape 8"/>
          <p:cNvSpPr/>
          <p:nvPr/>
        </p:nvSpPr>
        <p:spPr>
          <a:xfrm>
            <a:off x="2286000" y="1234440"/>
            <a:ext cx="384048" cy="384048"/>
          </a:xfrm>
          <a:prstGeom prst="ellipse">
            <a:avLst/>
          </a:prstGeom>
          <a:solidFill>
            <a:srgbClr val="14213D"/>
          </a:solidFill>
          <a:ln w="12700">
            <a:solidFill>
              <a:srgbClr val="14213D"/>
            </a:solidFill>
            <a:prstDash val="solid"/>
          </a:ln>
        </p:spPr>
      </p:sp>
      <p:sp>
        <p:nvSpPr>
          <p:cNvPr id="11" name="Text 9"/>
          <p:cNvSpPr txBox="1"/>
          <p:nvPr/>
        </p:nvSpPr>
        <p:spPr>
          <a:xfrm>
            <a:off x="228600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228600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Normalize</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response.json() → pd.json_normalize()</a:t>
            </a:r>
            <a:endParaRPr lang="en-US" sz="1250" dirty="0"/>
          </a:p>
        </p:txBody>
      </p:sp>
      <p:sp>
        <p:nvSpPr>
          <p:cNvPr id="13" name="Text 11"/>
          <p:cNvSpPr txBox="1"/>
          <p:nvPr/>
        </p:nvSpPr>
        <p:spPr>
          <a:xfrm>
            <a:off x="3593592" y="150876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14" name="Shape 12"/>
          <p:cNvSpPr/>
          <p:nvPr/>
        </p:nvSpPr>
        <p:spPr>
          <a:xfrm>
            <a:off x="3840480" y="1097280"/>
            <a:ext cx="1463040" cy="1325880"/>
          </a:xfrm>
          <a:prstGeom prst="roundRect">
            <a:avLst>
              <a:gd name="adj" fmla="val 5517"/>
            </a:avLst>
          </a:prstGeom>
          <a:solidFill>
            <a:srgbClr val="F1F4F9"/>
          </a:solidFill>
          <a:ln w="12700">
            <a:solidFill>
              <a:srgbClr val="F1F4F9"/>
            </a:solidFill>
            <a:prstDash val="solid"/>
          </a:ln>
        </p:spPr>
      </p:sp>
      <p:sp>
        <p:nvSpPr>
          <p:cNvPr id="15" name="Shape 13"/>
          <p:cNvSpPr/>
          <p:nvPr/>
        </p:nvSpPr>
        <p:spPr>
          <a:xfrm>
            <a:off x="3977640" y="1234440"/>
            <a:ext cx="384048" cy="384048"/>
          </a:xfrm>
          <a:prstGeom prst="ellipse">
            <a:avLst/>
          </a:prstGeom>
          <a:solidFill>
            <a:srgbClr val="14213D"/>
          </a:solidFill>
          <a:ln w="12700">
            <a:solidFill>
              <a:srgbClr val="14213D"/>
            </a:solidFill>
            <a:prstDash val="solid"/>
          </a:ln>
        </p:spPr>
      </p:sp>
      <p:sp>
        <p:nvSpPr>
          <p:cNvPr id="16" name="Text 14"/>
          <p:cNvSpPr txBox="1"/>
          <p:nvPr/>
        </p:nvSpPr>
        <p:spPr>
          <a:xfrm>
            <a:off x="397764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397764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Enrich</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getBoosterVersion, getLaunchSite, getPayloadData, getCoreData</a:t>
            </a:r>
            <a:endParaRPr lang="en-US" sz="1250" dirty="0"/>
          </a:p>
        </p:txBody>
      </p:sp>
      <p:sp>
        <p:nvSpPr>
          <p:cNvPr id="18" name="Text 16"/>
          <p:cNvSpPr txBox="1"/>
          <p:nvPr/>
        </p:nvSpPr>
        <p:spPr>
          <a:xfrm>
            <a:off x="5285232" y="150876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19" name="Shape 17"/>
          <p:cNvSpPr/>
          <p:nvPr/>
        </p:nvSpPr>
        <p:spPr>
          <a:xfrm>
            <a:off x="5532120" y="1097280"/>
            <a:ext cx="1463040" cy="1325880"/>
          </a:xfrm>
          <a:prstGeom prst="roundRect">
            <a:avLst>
              <a:gd name="adj" fmla="val 5517"/>
            </a:avLst>
          </a:prstGeom>
          <a:solidFill>
            <a:srgbClr val="F1F4F9"/>
          </a:solidFill>
          <a:ln w="12700">
            <a:solidFill>
              <a:srgbClr val="F1F4F9"/>
            </a:solidFill>
            <a:prstDash val="solid"/>
          </a:ln>
        </p:spPr>
      </p:sp>
      <p:sp>
        <p:nvSpPr>
          <p:cNvPr id="20" name="Shape 18"/>
          <p:cNvSpPr/>
          <p:nvPr/>
        </p:nvSpPr>
        <p:spPr>
          <a:xfrm>
            <a:off x="5669280" y="1234440"/>
            <a:ext cx="384048" cy="384048"/>
          </a:xfrm>
          <a:prstGeom prst="ellipse">
            <a:avLst/>
          </a:prstGeom>
          <a:solidFill>
            <a:srgbClr val="14213D"/>
          </a:solidFill>
          <a:ln w="12700">
            <a:solidFill>
              <a:srgbClr val="14213D"/>
            </a:solidFill>
            <a:prstDash val="solid"/>
          </a:ln>
        </p:spPr>
      </p:sp>
      <p:sp>
        <p:nvSpPr>
          <p:cNvPr id="21" name="Text 19"/>
          <p:cNvSpPr txBox="1"/>
          <p:nvPr/>
        </p:nvSpPr>
        <p:spPr>
          <a:xfrm>
            <a:off x="566928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66928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Filter</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Keep Falcon 9 only (drop Falcon 1) → 90 launches</a:t>
            </a:r>
            <a:endParaRPr lang="en-US" sz="1250" dirty="0"/>
          </a:p>
        </p:txBody>
      </p:sp>
      <p:sp>
        <p:nvSpPr>
          <p:cNvPr id="23" name="Text 21"/>
          <p:cNvSpPr txBox="1"/>
          <p:nvPr/>
        </p:nvSpPr>
        <p:spPr>
          <a:xfrm>
            <a:off x="6976872" y="150876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24" name="Shape 22"/>
          <p:cNvSpPr/>
          <p:nvPr/>
        </p:nvSpPr>
        <p:spPr>
          <a:xfrm>
            <a:off x="7223760" y="1097280"/>
            <a:ext cx="1463040" cy="1325880"/>
          </a:xfrm>
          <a:prstGeom prst="roundRect">
            <a:avLst>
              <a:gd name="adj" fmla="val 5517"/>
            </a:avLst>
          </a:prstGeom>
          <a:solidFill>
            <a:srgbClr val="F1F4F9"/>
          </a:solidFill>
          <a:ln w="12700">
            <a:solidFill>
              <a:srgbClr val="F1F4F9"/>
            </a:solidFill>
            <a:prstDash val="solid"/>
          </a:ln>
        </p:spPr>
      </p:sp>
      <p:sp>
        <p:nvSpPr>
          <p:cNvPr id="25" name="Shape 23"/>
          <p:cNvSpPr/>
          <p:nvPr/>
        </p:nvSpPr>
        <p:spPr>
          <a:xfrm>
            <a:off x="7360920" y="1234440"/>
            <a:ext cx="384048" cy="384048"/>
          </a:xfrm>
          <a:prstGeom prst="ellipse">
            <a:avLst/>
          </a:prstGeom>
          <a:solidFill>
            <a:srgbClr val="14213D"/>
          </a:solidFill>
          <a:ln w="12700">
            <a:solidFill>
              <a:srgbClr val="14213D"/>
            </a:solidFill>
            <a:prstDash val="solid"/>
          </a:ln>
        </p:spPr>
      </p:sp>
      <p:sp>
        <p:nvSpPr>
          <p:cNvPr id="26" name="Text 24"/>
          <p:cNvSpPr txBox="1"/>
          <p:nvPr/>
        </p:nvSpPr>
        <p:spPr>
          <a:xfrm>
            <a:off x="736092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736092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Clean</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Fill missing PayloadMass with the mean; export CSV</a:t>
            </a:r>
            <a:endParaRPr lang="en-US" sz="1250" dirty="0"/>
          </a:p>
        </p:txBody>
      </p:sp>
      <p:sp>
        <p:nvSpPr>
          <p:cNvPr id="28" name="Shape 26"/>
          <p:cNvSpPr/>
          <p:nvPr/>
        </p:nvSpPr>
        <p:spPr>
          <a:xfrm>
            <a:off x="457200" y="2606040"/>
            <a:ext cx="8229600" cy="1874520"/>
          </a:xfrm>
          <a:prstGeom prst="roundRect">
            <a:avLst>
              <a:gd name="adj" fmla="val 3902"/>
            </a:avLst>
          </a:prstGeom>
          <a:solidFill>
            <a:srgbClr val="F8FAFC"/>
          </a:solidFill>
          <a:ln w="12700">
            <a:solidFill>
              <a:srgbClr val="F8FAFC"/>
            </a:solidFill>
            <a:prstDash val="solid"/>
          </a:ln>
        </p:spPr>
      </p:sp>
      <p:sp>
        <p:nvSpPr>
          <p:cNvPr id="29" name="Text 27"/>
          <p:cNvSpPr txBox="1"/>
          <p:nvPr/>
        </p:nvSpPr>
        <p:spPr>
          <a:xfrm>
            <a:off x="640080" y="2697480"/>
            <a:ext cx="7863840" cy="1691640"/>
          </a:xfrm>
          <a:prstGeom prst="rect">
            <a:avLst/>
          </a:prstGeom>
          <a:noFill/>
          <a:ln/>
        </p:spPr>
        <p:txBody>
          <a:bodyPr wrap="square" lIns="0" tIns="0" rIns="0" bIns="0" rtlCol="0" anchor="t"/>
          <a:lstStyle/>
          <a:p>
            <a:pPr indent="0" marL="0">
              <a:spcAft>
                <a:spcPts val="300"/>
              </a:spcAft>
              <a:buNone/>
            </a:pPr>
            <a:r>
              <a:rPr lang="en-US" sz="1200" b="1" dirty="0">
                <a:solidFill>
                  <a:srgbClr val="FC7A1E"/>
                </a:solidFill>
                <a:latin typeface="Calibri" pitchFamily="34" charset="0"/>
                <a:ea typeface="Calibri" pitchFamily="34" charset="-122"/>
                <a:cs typeface="Calibri" pitchFamily="34" charset="-120"/>
              </a:rPr>
              <a:t>Key code</a:t>
            </a:r>
            <a:endParaRPr lang="en-US" sz="1000" dirty="0"/>
          </a:p>
          <a:p>
            <a:pPr indent="0" marL="0">
              <a:spcAft>
                <a:spcPts val="300"/>
              </a:spcAft>
              <a:buNone/>
            </a:pPr>
            <a:r>
              <a:rPr lang="en-US" sz="1000" dirty="0">
                <a:solidFill>
                  <a:srgbClr val="1F2937"/>
                </a:solidFill>
                <a:latin typeface="Courier New" pitchFamily="34" charset="0"/>
                <a:ea typeface="Courier New" pitchFamily="34" charset="-122"/>
                <a:cs typeface="Courier New" pitchFamily="34" charset="-120"/>
              </a:rPr>
              <a:t>response = requests.get(static_json_url)          # status 200</a:t>
            </a:r>
            <a:endParaRPr lang="en-US" sz="1000" dirty="0"/>
          </a:p>
          <a:p>
            <a:pPr indent="0" marL="0">
              <a:spcAft>
                <a:spcPts val="300"/>
              </a:spcAft>
              <a:buNone/>
            </a:pPr>
            <a:r>
              <a:rPr lang="en-US" sz="1000" dirty="0">
                <a:solidFill>
                  <a:srgbClr val="1F2937"/>
                </a:solidFill>
                <a:latin typeface="Courier New" pitchFamily="34" charset="0"/>
                <a:ea typeface="Courier New" pitchFamily="34" charset="-122"/>
                <a:cs typeface="Courier New" pitchFamily="34" charset="-120"/>
              </a:rPr>
              <a:t>data = pd.json_normalize(response.json())</a:t>
            </a:r>
            <a:endParaRPr lang="en-US" sz="1000" dirty="0"/>
          </a:p>
          <a:p>
            <a:pPr indent="0" marL="0">
              <a:spcAft>
                <a:spcPts val="300"/>
              </a:spcAft>
              <a:buNone/>
            </a:pPr>
            <a:r>
              <a:rPr lang="en-US" sz="1000" dirty="0">
                <a:solidFill>
                  <a:srgbClr val="1F2937"/>
                </a:solidFill>
                <a:latin typeface="Courier New" pitchFamily="34" charset="0"/>
                <a:ea typeface="Courier New" pitchFamily="34" charset="-122"/>
                <a:cs typeface="Courier New" pitchFamily="34" charset="-120"/>
              </a:rPr>
              <a:t>getBoosterVersion(data); getLaunchSite(data); getPayloadData(data); getCoreData(data)</a:t>
            </a:r>
            <a:endParaRPr lang="en-US" sz="1000" dirty="0"/>
          </a:p>
          <a:p>
            <a:pPr indent="0" marL="0">
              <a:spcAft>
                <a:spcPts val="300"/>
              </a:spcAft>
              <a:buNone/>
            </a:pPr>
            <a:r>
              <a:rPr lang="en-US" sz="1000" dirty="0">
                <a:solidFill>
                  <a:srgbClr val="1F2937"/>
                </a:solidFill>
                <a:latin typeface="Courier New" pitchFamily="34" charset="0"/>
                <a:ea typeface="Courier New" pitchFamily="34" charset="-122"/>
                <a:cs typeface="Courier New" pitchFamily="34" charset="-120"/>
              </a:rPr>
              <a:t>data_falcon9 = df[df['BoosterVersion'] != 'Falcon 1']</a:t>
            </a:r>
            <a:endParaRPr lang="en-US" sz="1000" dirty="0"/>
          </a:p>
          <a:p>
            <a:pPr indent="0" marL="0">
              <a:spcAft>
                <a:spcPts val="300"/>
              </a:spcAft>
              <a:buNone/>
            </a:pPr>
            <a:r>
              <a:rPr lang="en-US" sz="1000" dirty="0">
                <a:solidFill>
                  <a:srgbClr val="1F2937"/>
                </a:solidFill>
                <a:latin typeface="Courier New" pitchFamily="34" charset="0"/>
                <a:ea typeface="Courier New" pitchFamily="34" charset="-122"/>
                <a:cs typeface="Courier New" pitchFamily="34" charset="-120"/>
              </a:rPr>
              <a:t>data_falcon9['PayloadMass'] = data_falcon9['PayloadMass'].fillna(data_falcon9['PayloadMass'].mean())</a:t>
            </a:r>
            <a:endParaRPr lang="en-US" sz="1000" dirty="0"/>
          </a:p>
        </p:txBody>
      </p:sp>
      <p:sp>
        <p:nvSpPr>
          <p:cNvPr id="30" name="Text 28"/>
          <p:cNvSpPr txBox="1"/>
          <p:nvPr/>
        </p:nvSpPr>
        <p:spPr>
          <a:xfrm>
            <a:off x="457200" y="4645152"/>
            <a:ext cx="786384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GitHub notebook: </a:t>
            </a:r>
            <a:pPr indent="0" marL="0">
              <a:buNone/>
            </a:pPr>
            <a:r>
              <a:rPr lang="en-US" sz="10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https://github.com/kautzarichramsyah/Applied-Data-Science-Capstone/blob/main/1_spacex_data_collection_api.ipynb</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Collection – Scraping</a:t>
            </a:r>
            <a:endParaRPr lang="en-US" sz="2600" dirty="0"/>
          </a:p>
        </p:txBody>
      </p:sp>
      <p:sp>
        <p:nvSpPr>
          <p:cNvPr id="4" name="Shape 2"/>
          <p:cNvSpPr/>
          <p:nvPr/>
        </p:nvSpPr>
        <p:spPr>
          <a:xfrm>
            <a:off x="457200" y="1097280"/>
            <a:ext cx="1463040" cy="1325880"/>
          </a:xfrm>
          <a:prstGeom prst="roundRect">
            <a:avLst>
              <a:gd name="adj" fmla="val 5517"/>
            </a:avLst>
          </a:prstGeom>
          <a:solidFill>
            <a:srgbClr val="F1F4F9"/>
          </a:solidFill>
          <a:ln w="12700">
            <a:solidFill>
              <a:srgbClr val="F1F4F9"/>
            </a:solidFill>
            <a:prstDash val="solid"/>
          </a:ln>
        </p:spPr>
      </p:sp>
      <p:sp>
        <p:nvSpPr>
          <p:cNvPr id="5" name="Shape 3"/>
          <p:cNvSpPr/>
          <p:nvPr/>
        </p:nvSpPr>
        <p:spPr>
          <a:xfrm>
            <a:off x="594360" y="1234440"/>
            <a:ext cx="384048" cy="384048"/>
          </a:xfrm>
          <a:prstGeom prst="ellipse">
            <a:avLst/>
          </a:prstGeom>
          <a:solidFill>
            <a:srgbClr val="14213D"/>
          </a:solidFill>
          <a:ln w="12700">
            <a:solidFill>
              <a:srgbClr val="14213D"/>
            </a:solidFill>
            <a:prstDash val="solid"/>
          </a:ln>
        </p:spPr>
      </p:sp>
      <p:sp>
        <p:nvSpPr>
          <p:cNvPr id="6" name="Text 4"/>
          <p:cNvSpPr txBox="1"/>
          <p:nvPr/>
        </p:nvSpPr>
        <p:spPr>
          <a:xfrm>
            <a:off x="59436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59436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Request</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GET the Wikipedia Falcon 9 launch list page</a:t>
            </a:r>
            <a:endParaRPr lang="en-US" sz="1250" dirty="0"/>
          </a:p>
        </p:txBody>
      </p:sp>
      <p:sp>
        <p:nvSpPr>
          <p:cNvPr id="8" name="Text 6"/>
          <p:cNvSpPr txBox="1"/>
          <p:nvPr/>
        </p:nvSpPr>
        <p:spPr>
          <a:xfrm>
            <a:off x="1901952" y="150876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9" name="Shape 7"/>
          <p:cNvSpPr/>
          <p:nvPr/>
        </p:nvSpPr>
        <p:spPr>
          <a:xfrm>
            <a:off x="2148840" y="1097280"/>
            <a:ext cx="1463040" cy="1325880"/>
          </a:xfrm>
          <a:prstGeom prst="roundRect">
            <a:avLst>
              <a:gd name="adj" fmla="val 5517"/>
            </a:avLst>
          </a:prstGeom>
          <a:solidFill>
            <a:srgbClr val="F1F4F9"/>
          </a:solidFill>
          <a:ln w="12700">
            <a:solidFill>
              <a:srgbClr val="F1F4F9"/>
            </a:solidFill>
            <a:prstDash val="solid"/>
          </a:ln>
        </p:spPr>
      </p:sp>
      <p:sp>
        <p:nvSpPr>
          <p:cNvPr id="10" name="Shape 8"/>
          <p:cNvSpPr/>
          <p:nvPr/>
        </p:nvSpPr>
        <p:spPr>
          <a:xfrm>
            <a:off x="2286000" y="1234440"/>
            <a:ext cx="384048" cy="384048"/>
          </a:xfrm>
          <a:prstGeom prst="ellipse">
            <a:avLst/>
          </a:prstGeom>
          <a:solidFill>
            <a:srgbClr val="14213D"/>
          </a:solidFill>
          <a:ln w="12700">
            <a:solidFill>
              <a:srgbClr val="14213D"/>
            </a:solidFill>
            <a:prstDash val="solid"/>
          </a:ln>
        </p:spPr>
      </p:sp>
      <p:sp>
        <p:nvSpPr>
          <p:cNvPr id="11" name="Text 9"/>
          <p:cNvSpPr txBox="1"/>
          <p:nvPr/>
        </p:nvSpPr>
        <p:spPr>
          <a:xfrm>
            <a:off x="228600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228600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Parse</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BeautifulSoup(response.text, "html.parser")</a:t>
            </a:r>
            <a:endParaRPr lang="en-US" sz="1250" dirty="0"/>
          </a:p>
        </p:txBody>
      </p:sp>
      <p:sp>
        <p:nvSpPr>
          <p:cNvPr id="13" name="Text 11"/>
          <p:cNvSpPr txBox="1"/>
          <p:nvPr/>
        </p:nvSpPr>
        <p:spPr>
          <a:xfrm>
            <a:off x="3593592" y="150876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14" name="Shape 12"/>
          <p:cNvSpPr/>
          <p:nvPr/>
        </p:nvSpPr>
        <p:spPr>
          <a:xfrm>
            <a:off x="3840480" y="1097280"/>
            <a:ext cx="1463040" cy="1325880"/>
          </a:xfrm>
          <a:prstGeom prst="roundRect">
            <a:avLst>
              <a:gd name="adj" fmla="val 5517"/>
            </a:avLst>
          </a:prstGeom>
          <a:solidFill>
            <a:srgbClr val="F1F4F9"/>
          </a:solidFill>
          <a:ln w="12700">
            <a:solidFill>
              <a:srgbClr val="F1F4F9"/>
            </a:solidFill>
            <a:prstDash val="solid"/>
          </a:ln>
        </p:spPr>
      </p:sp>
      <p:sp>
        <p:nvSpPr>
          <p:cNvPr id="15" name="Shape 13"/>
          <p:cNvSpPr/>
          <p:nvPr/>
        </p:nvSpPr>
        <p:spPr>
          <a:xfrm>
            <a:off x="3977640" y="1234440"/>
            <a:ext cx="384048" cy="384048"/>
          </a:xfrm>
          <a:prstGeom prst="ellipse">
            <a:avLst/>
          </a:prstGeom>
          <a:solidFill>
            <a:srgbClr val="14213D"/>
          </a:solidFill>
          <a:ln w="12700">
            <a:solidFill>
              <a:srgbClr val="14213D"/>
            </a:solidFill>
            <a:prstDash val="solid"/>
          </a:ln>
        </p:spPr>
      </p:sp>
      <p:sp>
        <p:nvSpPr>
          <p:cNvPr id="16" name="Text 14"/>
          <p:cNvSpPr txBox="1"/>
          <p:nvPr/>
        </p:nvSpPr>
        <p:spPr>
          <a:xfrm>
            <a:off x="397764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397764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Find tables</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soup.find_all("table") → launch tables</a:t>
            </a:r>
            <a:endParaRPr lang="en-US" sz="1250" dirty="0"/>
          </a:p>
        </p:txBody>
      </p:sp>
      <p:sp>
        <p:nvSpPr>
          <p:cNvPr id="18" name="Text 16"/>
          <p:cNvSpPr txBox="1"/>
          <p:nvPr/>
        </p:nvSpPr>
        <p:spPr>
          <a:xfrm>
            <a:off x="5285232" y="150876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19" name="Shape 17"/>
          <p:cNvSpPr/>
          <p:nvPr/>
        </p:nvSpPr>
        <p:spPr>
          <a:xfrm>
            <a:off x="5532120" y="1097280"/>
            <a:ext cx="1463040" cy="1325880"/>
          </a:xfrm>
          <a:prstGeom prst="roundRect">
            <a:avLst>
              <a:gd name="adj" fmla="val 5517"/>
            </a:avLst>
          </a:prstGeom>
          <a:solidFill>
            <a:srgbClr val="F1F4F9"/>
          </a:solidFill>
          <a:ln w="12700">
            <a:solidFill>
              <a:srgbClr val="F1F4F9"/>
            </a:solidFill>
            <a:prstDash val="solid"/>
          </a:ln>
        </p:spPr>
      </p:sp>
      <p:sp>
        <p:nvSpPr>
          <p:cNvPr id="20" name="Shape 18"/>
          <p:cNvSpPr/>
          <p:nvPr/>
        </p:nvSpPr>
        <p:spPr>
          <a:xfrm>
            <a:off x="5669280" y="1234440"/>
            <a:ext cx="384048" cy="384048"/>
          </a:xfrm>
          <a:prstGeom prst="ellipse">
            <a:avLst/>
          </a:prstGeom>
          <a:solidFill>
            <a:srgbClr val="14213D"/>
          </a:solidFill>
          <a:ln w="12700">
            <a:solidFill>
              <a:srgbClr val="14213D"/>
            </a:solidFill>
            <a:prstDash val="solid"/>
          </a:ln>
        </p:spPr>
      </p:sp>
      <p:sp>
        <p:nvSpPr>
          <p:cNvPr id="21" name="Text 19"/>
          <p:cNvSpPr txBox="1"/>
          <p:nvPr/>
        </p:nvSpPr>
        <p:spPr>
          <a:xfrm>
            <a:off x="566928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66928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Extract</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Column names from &lt;th&gt;; rows from &lt;td&gt;</a:t>
            </a:r>
            <a:endParaRPr lang="en-US" sz="1250" dirty="0"/>
          </a:p>
        </p:txBody>
      </p:sp>
      <p:sp>
        <p:nvSpPr>
          <p:cNvPr id="23" name="Text 21"/>
          <p:cNvSpPr txBox="1"/>
          <p:nvPr/>
        </p:nvSpPr>
        <p:spPr>
          <a:xfrm>
            <a:off x="6976872" y="150876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24" name="Shape 22"/>
          <p:cNvSpPr/>
          <p:nvPr/>
        </p:nvSpPr>
        <p:spPr>
          <a:xfrm>
            <a:off x="7223760" y="1097280"/>
            <a:ext cx="1463040" cy="1325880"/>
          </a:xfrm>
          <a:prstGeom prst="roundRect">
            <a:avLst>
              <a:gd name="adj" fmla="val 5517"/>
            </a:avLst>
          </a:prstGeom>
          <a:solidFill>
            <a:srgbClr val="F1F4F9"/>
          </a:solidFill>
          <a:ln w="12700">
            <a:solidFill>
              <a:srgbClr val="F1F4F9"/>
            </a:solidFill>
            <a:prstDash val="solid"/>
          </a:ln>
        </p:spPr>
      </p:sp>
      <p:sp>
        <p:nvSpPr>
          <p:cNvPr id="25" name="Shape 23"/>
          <p:cNvSpPr/>
          <p:nvPr/>
        </p:nvSpPr>
        <p:spPr>
          <a:xfrm>
            <a:off x="7360920" y="1234440"/>
            <a:ext cx="384048" cy="384048"/>
          </a:xfrm>
          <a:prstGeom prst="ellipse">
            <a:avLst/>
          </a:prstGeom>
          <a:solidFill>
            <a:srgbClr val="14213D"/>
          </a:solidFill>
          <a:ln w="12700">
            <a:solidFill>
              <a:srgbClr val="14213D"/>
            </a:solidFill>
            <a:prstDash val="solid"/>
          </a:ln>
        </p:spPr>
      </p:sp>
      <p:sp>
        <p:nvSpPr>
          <p:cNvPr id="26" name="Text 24"/>
          <p:cNvSpPr txBox="1"/>
          <p:nvPr/>
        </p:nvSpPr>
        <p:spPr>
          <a:xfrm>
            <a:off x="736092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7360920" y="166420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Save</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launch_dict → DataFrame → CSV</a:t>
            </a:r>
            <a:endParaRPr lang="en-US" sz="1250" dirty="0"/>
          </a:p>
        </p:txBody>
      </p:sp>
      <p:sp>
        <p:nvSpPr>
          <p:cNvPr id="28" name="Shape 26"/>
          <p:cNvSpPr/>
          <p:nvPr/>
        </p:nvSpPr>
        <p:spPr>
          <a:xfrm>
            <a:off x="457200" y="2606040"/>
            <a:ext cx="3977640" cy="1874520"/>
          </a:xfrm>
          <a:prstGeom prst="roundRect">
            <a:avLst>
              <a:gd name="adj" fmla="val 3902"/>
            </a:avLst>
          </a:prstGeom>
          <a:solidFill>
            <a:srgbClr val="F1F4F9"/>
          </a:solidFill>
          <a:ln w="12700">
            <a:solidFill>
              <a:srgbClr val="F1F4F9"/>
            </a:solidFill>
            <a:prstDash val="solid"/>
          </a:ln>
        </p:spPr>
      </p:sp>
      <p:sp>
        <p:nvSpPr>
          <p:cNvPr id="29" name="Text 27"/>
          <p:cNvSpPr txBox="1"/>
          <p:nvPr/>
        </p:nvSpPr>
        <p:spPr>
          <a:xfrm>
            <a:off x="640080" y="2743200"/>
            <a:ext cx="3611880" cy="160020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WHY A SECOND SOURCE</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Wikipedia adds human-readable mission details (customer, launch outcome, booster landing) that cross-check the API records.</a:t>
            </a:r>
            <a:endParaRPr lang="en-US" sz="1200" dirty="0"/>
          </a:p>
        </p:txBody>
      </p:sp>
      <p:sp>
        <p:nvSpPr>
          <p:cNvPr id="30" name="Shape 28"/>
          <p:cNvSpPr/>
          <p:nvPr/>
        </p:nvSpPr>
        <p:spPr>
          <a:xfrm>
            <a:off x="4709160" y="2606040"/>
            <a:ext cx="3977640" cy="1874520"/>
          </a:xfrm>
          <a:prstGeom prst="roundRect">
            <a:avLst>
              <a:gd name="adj" fmla="val 3902"/>
            </a:avLst>
          </a:prstGeom>
          <a:solidFill>
            <a:srgbClr val="F1F4F9"/>
          </a:solidFill>
          <a:ln w="12700">
            <a:solidFill>
              <a:srgbClr val="F1F4F9"/>
            </a:solidFill>
            <a:prstDash val="solid"/>
          </a:ln>
        </p:spPr>
      </p:sp>
      <p:sp>
        <p:nvSpPr>
          <p:cNvPr id="31" name="Text 29"/>
          <p:cNvSpPr txBox="1"/>
          <p:nvPr/>
        </p:nvSpPr>
        <p:spPr>
          <a:xfrm>
            <a:off x="4892040" y="2743200"/>
            <a:ext cx="3611880" cy="160020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CHECK</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soup.title returns "List of Falcon 9 and Falcon Heavy launches - Wikipedia", confirming the right page was parsed; 121 launch rows extracted.</a:t>
            </a:r>
            <a:endParaRPr lang="en-US" sz="1200" dirty="0"/>
          </a:p>
        </p:txBody>
      </p:sp>
      <p:sp>
        <p:nvSpPr>
          <p:cNvPr id="32" name="Text 30"/>
          <p:cNvSpPr txBox="1"/>
          <p:nvPr/>
        </p:nvSpPr>
        <p:spPr>
          <a:xfrm>
            <a:off x="457200" y="4645152"/>
            <a:ext cx="786384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GitHub notebook: </a:t>
            </a:r>
            <a:pPr indent="0" marL="0">
              <a:buNone/>
            </a:pPr>
            <a:r>
              <a:rPr lang="en-US" sz="10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https://github.com/kautzarichramsyah/Applied-Data-Science-Capstone/blob/main/2_webscraping_falcon9.ipynb</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Wrangling</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Turning eight landing outcomes into one binary label</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937760" cy="914400"/>
        </p:xfrm>
        <a:graphic>
          <a:graphicData uri="http://schemas.openxmlformats.org/drawingml/2006/table">
            <a:tbl>
              <a:tblPr/>
              <a:tblGrid>
                <a:gridCol w="1143000"/>
                <a:gridCol w="2331720"/>
                <a:gridCol w="731520"/>
                <a:gridCol w="731520"/>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Outcome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Count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Class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92608">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True ASDS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Landed on drone ship</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b="1" dirty="0">
                          <a:solidFill>
                            <a:srgbClr val="2A9D8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None None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No landing attempted</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b="1" dirty="0">
                          <a:solidFill>
                            <a:srgbClr val="E63946"/>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True RTLS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Landed on ground pad</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b="1" dirty="0">
                          <a:solidFill>
                            <a:srgbClr val="2A9D8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False ASDS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Drone ship landing failed</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b="1" dirty="0">
                          <a:solidFill>
                            <a:srgbClr val="E63946"/>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True Ocean</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Controlled ocean landing</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b="1" dirty="0">
                          <a:solidFill>
                            <a:srgbClr val="2A9D8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False Ocean</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Ocean landing failed</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b="1" dirty="0">
                          <a:solidFill>
                            <a:srgbClr val="E63946"/>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None ASDS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Drone ship, no attempt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b="1" dirty="0">
                          <a:solidFill>
                            <a:srgbClr val="E63946"/>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False RTLS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Ground pad landing failed</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algn="l" indent="0" marL="0">
                        <a:buNone/>
                      </a:pPr>
                      <a:r>
                        <a:rPr lang="en-US" sz="1050" b="1" dirty="0">
                          <a:solidFill>
                            <a:srgbClr val="E63946"/>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669280" y="1188720"/>
            <a:ext cx="3017520" cy="1508760"/>
          </a:xfrm>
          <a:prstGeom prst="roundRect">
            <a:avLst>
              <a:gd name="adj" fmla="val 4848"/>
            </a:avLst>
          </a:prstGeom>
          <a:solidFill>
            <a:srgbClr val="F1F4F9"/>
          </a:solidFill>
          <a:ln w="12700">
            <a:solidFill>
              <a:srgbClr val="F1F4F9"/>
            </a:solidFill>
            <a:prstDash val="solid"/>
          </a:ln>
        </p:spPr>
      </p:sp>
      <p:sp>
        <p:nvSpPr>
          <p:cNvPr id="7" name="Text 4"/>
          <p:cNvSpPr txBox="1"/>
          <p:nvPr/>
        </p:nvSpPr>
        <p:spPr>
          <a:xfrm>
            <a:off x="5852160" y="1325880"/>
            <a:ext cx="2651760" cy="1234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PROCESS</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value_counts() of LaunchSite, Orbit and Outcome; bad_outcomes = outcomes 1, 3, 5, 6, 7; Class = 0 if outcome in bad_outcomes else 1.</a:t>
            </a:r>
            <a:endParaRPr lang="en-US" sz="1200" dirty="0"/>
          </a:p>
        </p:txBody>
      </p:sp>
      <p:sp>
        <p:nvSpPr>
          <p:cNvPr id="8" name="Shape 5"/>
          <p:cNvSpPr/>
          <p:nvPr/>
        </p:nvSpPr>
        <p:spPr>
          <a:xfrm>
            <a:off x="5669280" y="2834640"/>
            <a:ext cx="3017520" cy="1554480"/>
          </a:xfrm>
          <a:prstGeom prst="roundRect">
            <a:avLst>
              <a:gd name="adj" fmla="val 4706"/>
            </a:avLst>
          </a:prstGeom>
          <a:solidFill>
            <a:srgbClr val="F1F4F9"/>
          </a:solidFill>
          <a:ln w="12700">
            <a:solidFill>
              <a:srgbClr val="F1F4F9"/>
            </a:solidFill>
            <a:prstDash val="solid"/>
          </a:ln>
        </p:spPr>
      </p:sp>
      <p:sp>
        <p:nvSpPr>
          <p:cNvPr id="9" name="Text 6"/>
          <p:cNvSpPr txBox="1"/>
          <p:nvPr/>
        </p:nvSpPr>
        <p:spPr>
          <a:xfrm>
            <a:off x="5852160" y="2971800"/>
            <a:ext cx="2651760" cy="12801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RESULT</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Mean of Class = 0.667: two out of three Falcon 9 first stages landed. CCAFS SLC 40 hosted 55 of the 90 launches; GTO is the most common orbit (27).</a:t>
            </a:r>
            <a:endParaRPr lang="en-US" sz="1200" dirty="0"/>
          </a:p>
        </p:txBody>
      </p:sp>
      <p:sp>
        <p:nvSpPr>
          <p:cNvPr id="10" name="Text 7"/>
          <p:cNvSpPr txBox="1"/>
          <p:nvPr/>
        </p:nvSpPr>
        <p:spPr>
          <a:xfrm>
            <a:off x="457200" y="4645152"/>
            <a:ext cx="786384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GitHub notebook: </a:t>
            </a:r>
            <a:pPr indent="0" marL="0">
              <a:buNone/>
            </a:pPr>
            <a:r>
              <a:rPr lang="en-US" sz="10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https://github.com/kautzarichramsyah/Applied-Data-Science-Capstone/blob/main/3_data_wrangling.ipynb</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EDA with Data Visualization</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Charts plotted and why</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3291840"/>
                <a:gridCol w="338328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Chart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Variables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Scatter (catplot)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Flight number vs. launch site, coloured by Class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Does experience at a site improve landings?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Scatter (catplot)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Payload mass vs. launch site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Do heavy payloads land less often? Site payload limits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Bar chart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Success rate by orbit type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Compare landing success across orbits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Scatter (catplot)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Flight number vs. orbit type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Does the experience effect differ by orbit?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Scatter (catplot)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Payload mass vs. orbit type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Payload–orbit interaction</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Line chart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Yearly average success rate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Trend of landing success over time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6" name="Text 3"/>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Then: one-hot encoding of Orbit, LaunchSite, LandingPad and Serial → features_one_hot (90 × 80), cast to float64 for modelling.</a:t>
            </a:r>
            <a:endParaRPr lang="en-US" sz="1200" dirty="0"/>
          </a:p>
        </p:txBody>
      </p:sp>
      <p:sp>
        <p:nvSpPr>
          <p:cNvPr id="7" name="Text 4"/>
          <p:cNvSpPr txBox="1"/>
          <p:nvPr/>
        </p:nvSpPr>
        <p:spPr>
          <a:xfrm>
            <a:off x="457200" y="4645152"/>
            <a:ext cx="786384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GitHub notebook: </a:t>
            </a:r>
            <a:pPr indent="0" marL="0">
              <a:buNone/>
            </a:pPr>
            <a:r>
              <a:rPr lang="en-US" sz="10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https://github.com/kautzarichramsyah/Applied-Data-Science-Capstone/blob/main/5_eda_dataviz.ipynb</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EDA with SQL</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Spacex.csv loaded into SQLite table SPACEXTABLE; queries performed</a:t>
            </a:r>
            <a:endParaRPr lang="en-US" sz="1300" dirty="0"/>
          </a:p>
        </p:txBody>
      </p:sp>
      <p:sp>
        <p:nvSpPr>
          <p:cNvPr id="5" name="Text 3"/>
          <p:cNvSpPr txBox="1"/>
          <p:nvPr/>
        </p:nvSpPr>
        <p:spPr>
          <a:xfrm>
            <a:off x="457200" y="1188720"/>
            <a:ext cx="8229600" cy="33832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Displayed the names of the unique launch sites (SELECT DISTINCT)</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Displayed 5 records where launch sites begin with 'CCA' (LIKE, LIMIT)</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Total payload mass carried by boosters launched by NASA (CRS) (SUM)</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Average payload mass carried by booster version F9 v1.1 (AVG)</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Date of the first successful landing on a ground pad (MIN)</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Boosters with drone-ship success and payload between 4,000 and 6,000 kg (AND, ranges)</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Total number of successful and failed mission outcomes (GROUP BY, COUNT)</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Booster versions that carried the maximum payload mass (subquery with MAX)</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2015 drone-ship landing failures with month, booster and site (substr on Date)</a:t>
            </a:r>
            <a:endParaRPr lang="en-US" sz="1250" dirty="0"/>
          </a:p>
          <a:p>
            <a:pPr marL="342900" indent="-342900">
              <a:spcAft>
                <a:spcPts val="300"/>
              </a:spcAft>
              <a:buSzPct val="100000"/>
              <a:buChar char="•"/>
            </a:pPr>
            <a:r>
              <a:rPr lang="en-US" sz="1250" dirty="0">
                <a:solidFill>
                  <a:srgbClr val="1F2937"/>
                </a:solidFill>
                <a:latin typeface="Calibri" pitchFamily="34" charset="0"/>
                <a:ea typeface="Calibri" pitchFamily="34" charset="-122"/>
                <a:cs typeface="Calibri" pitchFamily="34" charset="-120"/>
              </a:rPr>
              <a:t>Ranking of landing outcomes between 2010-06-04 and 2017-03-20 (GROUP BY, ORDER BY DESC)</a:t>
            </a:r>
            <a:endParaRPr lang="en-US" sz="1250" dirty="0"/>
          </a:p>
        </p:txBody>
      </p:sp>
      <p:sp>
        <p:nvSpPr>
          <p:cNvPr id="6" name="Text 4"/>
          <p:cNvSpPr txBox="1"/>
          <p:nvPr/>
        </p:nvSpPr>
        <p:spPr>
          <a:xfrm>
            <a:off x="457200" y="4645152"/>
            <a:ext cx="786384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GitHub notebook: </a:t>
            </a:r>
            <a:pPr indent="0" marL="0">
              <a:buNone/>
            </a:pPr>
            <a:r>
              <a:rPr lang="en-US" sz="10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https://github.com/kautzarichramsyah/Applied-Data-Science-Capstone/blob/main/4_eda_with_sql.ipynb</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Build an Interactive Map with Folium</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Map objects created and why</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017520"/>
                <a:gridCol w="521208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Map object</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384048">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folium.Circle + folium.Marker (DivIcon)</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Mark and label each of the 4 launch sites at its latitude / longitude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MarkerCluster</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Group the 56 launch records per site so overlapping launches stay readable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Green / red folium.Marker icons</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Show each launch outcome (class 1 = landed, 0 = failed) at its site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MousePosition</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Read coordinates of nearby coastline, towns, railways and highways</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folium.PolyLine + distance label</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Draw lines from CCAFS SLC-40 to its proximities and show the haversine distance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6" name="Text 3"/>
          <p:cNvSpPr txBox="1"/>
          <p:nvPr/>
        </p:nvSpPr>
        <p:spPr>
          <a:xfrm>
            <a:off x="457200" y="3794760"/>
            <a:ext cx="8229600" cy="64008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Questions answered: are sites near the Equator and the coast? Which site has the best outcome ratio? How far are sites from cities and transport links?</a:t>
            </a:r>
            <a:endParaRPr lang="en-US" sz="1200" dirty="0"/>
          </a:p>
        </p:txBody>
      </p:sp>
      <p:sp>
        <p:nvSpPr>
          <p:cNvPr id="7" name="Text 4"/>
          <p:cNvSpPr txBox="1"/>
          <p:nvPr/>
        </p:nvSpPr>
        <p:spPr>
          <a:xfrm>
            <a:off x="457200" y="4645152"/>
            <a:ext cx="786384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GitHub notebook: </a:t>
            </a:r>
            <a:pPr indent="0" marL="0">
              <a:buNone/>
            </a:pPr>
            <a:r>
              <a:rPr lang="en-US" sz="10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https://github.com/kautzarichramsyah/Applied-Data-Science-Capstone/blob/main/6_launch_site_location_folium.ipynb</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Build a Dashboard with Plotly Dash</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Plots and interactions added and why</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3108960"/>
                <a:gridCol w="274320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45720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Dropdown (site-dropdown)</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All Sites or one of 4 launch sites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Compare sites or focus on one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Pie chart (success-pie-chart)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All sites: share of successes per site. One site: success vs. failure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See which site contributes most and which has the best rate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Range slider (payload-slider)</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0–10,000 kg in 1,000 kg steps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Filter launches by payload</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457200">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Scatter (success-payload-scatter-chart)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Payload vs. class, coloured by booster version</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Find payload ranges and boosters with the most success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6" name="Text 3"/>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Two callbacks: the pie chart takes the dropdown as Input; the scatter takes both the dropdown and the slider as Inputs.</a:t>
            </a:r>
            <a:endParaRPr lang="en-US" sz="1200" dirty="0"/>
          </a:p>
        </p:txBody>
      </p:sp>
      <p:sp>
        <p:nvSpPr>
          <p:cNvPr id="7" name="Text 4"/>
          <p:cNvSpPr txBox="1"/>
          <p:nvPr/>
        </p:nvSpPr>
        <p:spPr>
          <a:xfrm>
            <a:off x="457200" y="4645152"/>
            <a:ext cx="786384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GitHub notebook: </a:t>
            </a:r>
            <a:pPr indent="0" marL="0">
              <a:buNone/>
            </a:pPr>
            <a:r>
              <a:rPr lang="en-US" sz="10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https://github.com/kautzarichramsyah/Applied-Data-Science-Capstone/blob/main/spacex_dash_app.py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Predictive Analysis (Classification)</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How the classification models were built, tuned, evaluated and the best one selected</a:t>
            </a:r>
            <a:endParaRPr lang="en-US" sz="1300" dirty="0"/>
          </a:p>
        </p:txBody>
      </p:sp>
      <p:sp>
        <p:nvSpPr>
          <p:cNvPr id="5" name="Shape 3"/>
          <p:cNvSpPr/>
          <p:nvPr/>
        </p:nvSpPr>
        <p:spPr>
          <a:xfrm>
            <a:off x="457200" y="1234440"/>
            <a:ext cx="1463040" cy="1325880"/>
          </a:xfrm>
          <a:prstGeom prst="roundRect">
            <a:avLst>
              <a:gd name="adj" fmla="val 5517"/>
            </a:avLst>
          </a:prstGeom>
          <a:solidFill>
            <a:srgbClr val="F1F4F9"/>
          </a:solidFill>
          <a:ln w="12700">
            <a:solidFill>
              <a:srgbClr val="F1F4F9"/>
            </a:solidFill>
            <a:prstDash val="solid"/>
          </a:ln>
        </p:spPr>
      </p:sp>
      <p:sp>
        <p:nvSpPr>
          <p:cNvPr id="6" name="Shape 4"/>
          <p:cNvSpPr/>
          <p:nvPr/>
        </p:nvSpPr>
        <p:spPr>
          <a:xfrm>
            <a:off x="594360" y="1371600"/>
            <a:ext cx="384048" cy="384048"/>
          </a:xfrm>
          <a:prstGeom prst="ellipse">
            <a:avLst/>
          </a:prstGeom>
          <a:solidFill>
            <a:srgbClr val="FC7A1E"/>
          </a:solidFill>
          <a:ln w="12700">
            <a:solidFill>
              <a:srgbClr val="FC7A1E"/>
            </a:solidFill>
            <a:prstDash val="solid"/>
          </a:ln>
        </p:spPr>
      </p:sp>
      <p:sp>
        <p:nvSpPr>
          <p:cNvPr id="7" name="Text 5"/>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594360" y="180136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Prepare</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Y = Class; X = 83 features (numeric + one-hot)</a:t>
            </a:r>
            <a:endParaRPr lang="en-US" sz="1250" dirty="0"/>
          </a:p>
        </p:txBody>
      </p:sp>
      <p:sp>
        <p:nvSpPr>
          <p:cNvPr id="9" name="Text 7"/>
          <p:cNvSpPr txBox="1"/>
          <p:nvPr/>
        </p:nvSpPr>
        <p:spPr>
          <a:xfrm>
            <a:off x="1901952" y="164592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10" name="Shape 8"/>
          <p:cNvSpPr/>
          <p:nvPr/>
        </p:nvSpPr>
        <p:spPr>
          <a:xfrm>
            <a:off x="2148840" y="1234440"/>
            <a:ext cx="1463040" cy="1325880"/>
          </a:xfrm>
          <a:prstGeom prst="roundRect">
            <a:avLst>
              <a:gd name="adj" fmla="val 5517"/>
            </a:avLst>
          </a:prstGeom>
          <a:solidFill>
            <a:srgbClr val="F1F4F9"/>
          </a:solidFill>
          <a:ln w="12700">
            <a:solidFill>
              <a:srgbClr val="F1F4F9"/>
            </a:solidFill>
            <a:prstDash val="solid"/>
          </a:ln>
        </p:spPr>
      </p:sp>
      <p:sp>
        <p:nvSpPr>
          <p:cNvPr id="11" name="Shape 9"/>
          <p:cNvSpPr/>
          <p:nvPr/>
        </p:nvSpPr>
        <p:spPr>
          <a:xfrm>
            <a:off x="2286000" y="1371600"/>
            <a:ext cx="384048" cy="384048"/>
          </a:xfrm>
          <a:prstGeom prst="ellipse">
            <a:avLst/>
          </a:prstGeom>
          <a:solidFill>
            <a:srgbClr val="FC7A1E"/>
          </a:solidFill>
          <a:ln w="12700">
            <a:solidFill>
              <a:srgbClr val="FC7A1E"/>
            </a:solidFill>
            <a:prstDash val="solid"/>
          </a:ln>
        </p:spPr>
      </p:sp>
      <p:sp>
        <p:nvSpPr>
          <p:cNvPr id="12" name="Text 10"/>
          <p:cNvSpPr txBox="1"/>
          <p:nvPr/>
        </p:nvSpPr>
        <p:spPr>
          <a:xfrm>
            <a:off x="228600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2286000" y="180136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Standardize</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StandardScaler().fit(X).transform(X)</a:t>
            </a:r>
            <a:endParaRPr lang="en-US" sz="1250" dirty="0"/>
          </a:p>
        </p:txBody>
      </p:sp>
      <p:sp>
        <p:nvSpPr>
          <p:cNvPr id="14" name="Text 12"/>
          <p:cNvSpPr txBox="1"/>
          <p:nvPr/>
        </p:nvSpPr>
        <p:spPr>
          <a:xfrm>
            <a:off x="3593592" y="164592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15" name="Shape 13"/>
          <p:cNvSpPr/>
          <p:nvPr/>
        </p:nvSpPr>
        <p:spPr>
          <a:xfrm>
            <a:off x="3840480" y="1234440"/>
            <a:ext cx="1463040" cy="1325880"/>
          </a:xfrm>
          <a:prstGeom prst="roundRect">
            <a:avLst>
              <a:gd name="adj" fmla="val 5517"/>
            </a:avLst>
          </a:prstGeom>
          <a:solidFill>
            <a:srgbClr val="F1F4F9"/>
          </a:solidFill>
          <a:ln w="12700">
            <a:solidFill>
              <a:srgbClr val="F1F4F9"/>
            </a:solidFill>
            <a:prstDash val="solid"/>
          </a:ln>
        </p:spPr>
      </p:sp>
      <p:sp>
        <p:nvSpPr>
          <p:cNvPr id="16" name="Shape 14"/>
          <p:cNvSpPr/>
          <p:nvPr/>
        </p:nvSpPr>
        <p:spPr>
          <a:xfrm>
            <a:off x="3977640" y="1371600"/>
            <a:ext cx="384048" cy="384048"/>
          </a:xfrm>
          <a:prstGeom prst="ellipse">
            <a:avLst/>
          </a:prstGeom>
          <a:solidFill>
            <a:srgbClr val="FC7A1E"/>
          </a:solidFill>
          <a:ln w="12700">
            <a:solidFill>
              <a:srgbClr val="FC7A1E"/>
            </a:solidFill>
            <a:prstDash val="solid"/>
          </a:ln>
        </p:spPr>
      </p:sp>
      <p:sp>
        <p:nvSpPr>
          <p:cNvPr id="17" name="Text 15"/>
          <p:cNvSpPr txBox="1"/>
          <p:nvPr/>
        </p:nvSpPr>
        <p:spPr>
          <a:xfrm>
            <a:off x="397764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3977640" y="180136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Split</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train_test_split, test_size=0.2, random_state=2 → 72 / 18</a:t>
            </a:r>
            <a:endParaRPr lang="en-US" sz="1250" dirty="0"/>
          </a:p>
        </p:txBody>
      </p:sp>
      <p:sp>
        <p:nvSpPr>
          <p:cNvPr id="19" name="Text 17"/>
          <p:cNvSpPr txBox="1"/>
          <p:nvPr/>
        </p:nvSpPr>
        <p:spPr>
          <a:xfrm>
            <a:off x="5285232" y="164592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20" name="Shape 18"/>
          <p:cNvSpPr/>
          <p:nvPr/>
        </p:nvSpPr>
        <p:spPr>
          <a:xfrm>
            <a:off x="5532120" y="1234440"/>
            <a:ext cx="1463040" cy="1325880"/>
          </a:xfrm>
          <a:prstGeom prst="roundRect">
            <a:avLst>
              <a:gd name="adj" fmla="val 5517"/>
            </a:avLst>
          </a:prstGeom>
          <a:solidFill>
            <a:srgbClr val="F1F4F9"/>
          </a:solidFill>
          <a:ln w="12700">
            <a:solidFill>
              <a:srgbClr val="F1F4F9"/>
            </a:solidFill>
            <a:prstDash val="solid"/>
          </a:ln>
        </p:spPr>
      </p:sp>
      <p:sp>
        <p:nvSpPr>
          <p:cNvPr id="21" name="Shape 19"/>
          <p:cNvSpPr/>
          <p:nvPr/>
        </p:nvSpPr>
        <p:spPr>
          <a:xfrm>
            <a:off x="5669280" y="1371600"/>
            <a:ext cx="384048" cy="384048"/>
          </a:xfrm>
          <a:prstGeom prst="ellipse">
            <a:avLst/>
          </a:prstGeom>
          <a:solidFill>
            <a:srgbClr val="FC7A1E"/>
          </a:solidFill>
          <a:ln w="12700">
            <a:solidFill>
              <a:srgbClr val="FC7A1E"/>
            </a:solidFill>
            <a:prstDash val="solid"/>
          </a:ln>
        </p:spPr>
      </p:sp>
      <p:sp>
        <p:nvSpPr>
          <p:cNvPr id="22" name="Text 20"/>
          <p:cNvSpPr txBox="1"/>
          <p:nvPr/>
        </p:nvSpPr>
        <p:spPr>
          <a:xfrm>
            <a:off x="566928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5669280" y="180136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Tune</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GridSearchCV, cv=10, for LR, SVM, Tree, KNN</a:t>
            </a:r>
            <a:endParaRPr lang="en-US" sz="1250" dirty="0"/>
          </a:p>
        </p:txBody>
      </p:sp>
      <p:sp>
        <p:nvSpPr>
          <p:cNvPr id="24" name="Text 22"/>
          <p:cNvSpPr txBox="1"/>
          <p:nvPr/>
        </p:nvSpPr>
        <p:spPr>
          <a:xfrm>
            <a:off x="6976872" y="1645920"/>
            <a:ext cx="265176" cy="457200"/>
          </a:xfrm>
          <a:prstGeom prst="rect">
            <a:avLst/>
          </a:prstGeom>
          <a:noFill/>
          <a:ln/>
        </p:spPr>
        <p:txBody>
          <a:bodyPr wrap="square" lIns="0" tIns="0" rIns="0" bIns="0" rtlCol="0" anchor="ctr"/>
          <a:lstStyle/>
          <a:p>
            <a:pPr algn="ctr" indent="0" marL="0">
              <a:buNone/>
            </a:pPr>
            <a:r>
              <a:rPr lang="en-US" sz="2200" b="1" dirty="0">
                <a:solidFill>
                  <a:srgbClr val="FC7A1E"/>
                </a:solidFill>
              </a:rPr>
              <a:t>›</a:t>
            </a:r>
            <a:endParaRPr lang="en-US" sz="2200" dirty="0"/>
          </a:p>
        </p:txBody>
      </p:sp>
      <p:sp>
        <p:nvSpPr>
          <p:cNvPr id="25" name="Shape 23"/>
          <p:cNvSpPr/>
          <p:nvPr/>
        </p:nvSpPr>
        <p:spPr>
          <a:xfrm>
            <a:off x="7223760" y="1234440"/>
            <a:ext cx="1463040" cy="1325880"/>
          </a:xfrm>
          <a:prstGeom prst="roundRect">
            <a:avLst>
              <a:gd name="adj" fmla="val 5517"/>
            </a:avLst>
          </a:prstGeom>
          <a:solidFill>
            <a:srgbClr val="F1F4F9"/>
          </a:solidFill>
          <a:ln w="12700">
            <a:solidFill>
              <a:srgbClr val="F1F4F9"/>
            </a:solidFill>
            <a:prstDash val="solid"/>
          </a:ln>
        </p:spPr>
      </p:sp>
      <p:sp>
        <p:nvSpPr>
          <p:cNvPr id="26" name="Shape 24"/>
          <p:cNvSpPr/>
          <p:nvPr/>
        </p:nvSpPr>
        <p:spPr>
          <a:xfrm>
            <a:off x="7360920" y="1371600"/>
            <a:ext cx="384048" cy="384048"/>
          </a:xfrm>
          <a:prstGeom prst="ellipse">
            <a:avLst/>
          </a:prstGeom>
          <a:solidFill>
            <a:srgbClr val="FC7A1E"/>
          </a:solidFill>
          <a:ln w="12700">
            <a:solidFill>
              <a:srgbClr val="FC7A1E"/>
            </a:solidFill>
            <a:prstDash val="solid"/>
          </a:ln>
        </p:spPr>
      </p:sp>
      <p:sp>
        <p:nvSpPr>
          <p:cNvPr id="27" name="Text 25"/>
          <p:cNvSpPr txBox="1"/>
          <p:nvPr/>
        </p:nvSpPr>
        <p:spPr>
          <a:xfrm>
            <a:off x="736092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7360920" y="1801368"/>
            <a:ext cx="1188720" cy="73152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Evaluate &amp; select</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Test accuracy, confusion matrix, then 50-split repeated CV</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2194560"/>
                <a:gridCol w="603504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Hyperparameters searched</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 ∈ {0.01, 0.1, 1}, penalty = l2, solver = lbfgs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Support vector machine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kernel ∈ {linear, rbf, poly, sigmoid}, C and gamma ∈ logspace(-3, 3, 5)</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Decision tree</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criterion, splitter, max_depth 2–18, min_samples_leaf, min_samples_split</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2918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K-nearest neighbours</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n_neighbors 1–10, algorithm, p ∈ {1, 2}</a:t>
                      </a:r>
                      <a:endParaRPr lang="en-US" sz="11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30" name="Text 27"/>
          <p:cNvSpPr txBox="1"/>
          <p:nvPr/>
        </p:nvSpPr>
        <p:spPr>
          <a:xfrm>
            <a:off x="457200" y="4645152"/>
            <a:ext cx="786384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GitHub notebook: </a:t>
            </a:r>
            <a:pPr indent="0" marL="0">
              <a:buNone/>
            </a:pPr>
            <a:r>
              <a:rPr lang="en-US" sz="1000" u="sng" dirty="0">
                <a:solidFill>
                  <a:srgbClr val="FC7A1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https://github.com/kautzarichramsyah/Applied-Data-Science-Capstone/blob/main/8_machine_learning_prediction.ipynb</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Results</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Summary of exploratory analysis, interactive analytics and predictive results</a:t>
            </a:r>
            <a:endParaRPr lang="en-US" sz="1300" dirty="0"/>
          </a:p>
        </p:txBody>
      </p:sp>
      <p:sp>
        <p:nvSpPr>
          <p:cNvPr id="5" name="Shape 3"/>
          <p:cNvSpPr/>
          <p:nvPr/>
        </p:nvSpPr>
        <p:spPr>
          <a:xfrm>
            <a:off x="457200" y="1234440"/>
            <a:ext cx="2596896" cy="3383280"/>
          </a:xfrm>
          <a:prstGeom prst="roundRect">
            <a:avLst>
              <a:gd name="adj" fmla="val 2817"/>
            </a:avLst>
          </a:prstGeom>
          <a:solidFill>
            <a:srgbClr val="F1F4F9"/>
          </a:solidFill>
          <a:ln w="12700">
            <a:solidFill>
              <a:srgbClr val="F1F4F9"/>
            </a:solidFill>
            <a:prstDash val="solid"/>
          </a:ln>
        </p:spPr>
      </p:sp>
      <p:sp>
        <p:nvSpPr>
          <p:cNvPr id="6" name="Text 4"/>
          <p:cNvSpPr txBox="1"/>
          <p:nvPr/>
        </p:nvSpPr>
        <p:spPr>
          <a:xfrm>
            <a:off x="640080" y="1371600"/>
            <a:ext cx="228600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Exploratory data analysis</a:t>
            </a:r>
            <a:endParaRPr lang="en-US" sz="1400" dirty="0"/>
          </a:p>
        </p:txBody>
      </p:sp>
      <p:sp>
        <p:nvSpPr>
          <p:cNvPr id="7" name="Text 5"/>
          <p:cNvSpPr txBox="1"/>
          <p:nvPr/>
        </p:nvSpPr>
        <p:spPr>
          <a:xfrm>
            <a:off x="640080" y="1828800"/>
            <a:ext cx="2240280" cy="26974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Landing success rose from 0% (2010–2013) to 90% (2019)</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Overall success rate 66.7% across 90 launches</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ES-L1, GEO, HEO, SSO: 100%; GTO: 52%</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Newer boosters (FT, B4, B5) land far more often</a:t>
            </a:r>
            <a:endParaRPr lang="en-US" sz="1150" dirty="0"/>
          </a:p>
        </p:txBody>
      </p:sp>
      <p:sp>
        <p:nvSpPr>
          <p:cNvPr id="8" name="Shape 6"/>
          <p:cNvSpPr/>
          <p:nvPr/>
        </p:nvSpPr>
        <p:spPr>
          <a:xfrm>
            <a:off x="3273552" y="1234440"/>
            <a:ext cx="2596896" cy="3383280"/>
          </a:xfrm>
          <a:prstGeom prst="roundRect">
            <a:avLst>
              <a:gd name="adj" fmla="val 2817"/>
            </a:avLst>
          </a:prstGeom>
          <a:solidFill>
            <a:srgbClr val="F1F4F9"/>
          </a:solidFill>
          <a:ln w="12700">
            <a:solidFill>
              <a:srgbClr val="F1F4F9"/>
            </a:solidFill>
            <a:prstDash val="solid"/>
          </a:ln>
        </p:spPr>
      </p:sp>
      <p:sp>
        <p:nvSpPr>
          <p:cNvPr id="9" name="Text 7"/>
          <p:cNvSpPr txBox="1"/>
          <p:nvPr/>
        </p:nvSpPr>
        <p:spPr>
          <a:xfrm>
            <a:off x="3456432" y="1371600"/>
            <a:ext cx="2286000" cy="36576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Interactive analytics</a:t>
            </a:r>
            <a:endParaRPr lang="en-US" sz="1400" dirty="0"/>
          </a:p>
        </p:txBody>
      </p:sp>
      <p:sp>
        <p:nvSpPr>
          <p:cNvPr id="10" name="Text 8"/>
          <p:cNvSpPr txBox="1"/>
          <p:nvPr/>
        </p:nvSpPr>
        <p:spPr>
          <a:xfrm>
            <a:off x="3456432" y="1828800"/>
            <a:ext cx="2240280" cy="26974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All sites are on the coast, close to the Equator</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KSC LC-39A: most successes (41.7%) and best rate (76.9%)</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CCAFS SLC-40 is 0.87 km from the coastline</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2,000–5,000 kg payloads land most often</a:t>
            </a:r>
            <a:endParaRPr lang="en-US" sz="1150" dirty="0"/>
          </a:p>
        </p:txBody>
      </p:sp>
      <p:sp>
        <p:nvSpPr>
          <p:cNvPr id="11" name="Shape 9"/>
          <p:cNvSpPr/>
          <p:nvPr/>
        </p:nvSpPr>
        <p:spPr>
          <a:xfrm>
            <a:off x="6089904" y="1234440"/>
            <a:ext cx="2596896" cy="3383280"/>
          </a:xfrm>
          <a:prstGeom prst="roundRect">
            <a:avLst>
              <a:gd name="adj" fmla="val 2817"/>
            </a:avLst>
          </a:prstGeom>
          <a:solidFill>
            <a:srgbClr val="F1F4F9"/>
          </a:solidFill>
          <a:ln w="12700">
            <a:solidFill>
              <a:srgbClr val="F1F4F9"/>
            </a:solidFill>
            <a:prstDash val="solid"/>
          </a:ln>
        </p:spPr>
      </p:sp>
      <p:sp>
        <p:nvSpPr>
          <p:cNvPr id="12" name="Text 10"/>
          <p:cNvSpPr txBox="1"/>
          <p:nvPr/>
        </p:nvSpPr>
        <p:spPr>
          <a:xfrm>
            <a:off x="6272784" y="1371600"/>
            <a:ext cx="2286000" cy="365760"/>
          </a:xfrm>
          <a:prstGeom prst="rect">
            <a:avLst/>
          </a:prstGeom>
          <a:noFill/>
          <a:ln/>
        </p:spPr>
        <p:txBody>
          <a:bodyPr wrap="square" lIns="0" tIns="0" rIns="0" bIns="0" rtlCol="0" anchor="ctr"/>
          <a:lstStyle/>
          <a:p>
            <a:pPr indent="0" marL="0">
              <a:buNone/>
            </a:pPr>
            <a:r>
              <a:rPr lang="en-US" sz="1400" b="1" dirty="0">
                <a:solidFill>
                  <a:srgbClr val="FC7A1E"/>
                </a:solidFill>
                <a:latin typeface="Cambria" pitchFamily="34" charset="0"/>
                <a:ea typeface="Cambria" pitchFamily="34" charset="-122"/>
                <a:cs typeface="Cambria" pitchFamily="34" charset="-120"/>
              </a:rPr>
              <a:t>Predictive analysis</a:t>
            </a:r>
            <a:endParaRPr lang="en-US" sz="1400" dirty="0"/>
          </a:p>
        </p:txBody>
      </p:sp>
      <p:sp>
        <p:nvSpPr>
          <p:cNvPr id="13" name="Text 11"/>
          <p:cNvSpPr txBox="1"/>
          <p:nvPr/>
        </p:nvSpPr>
        <p:spPr>
          <a:xfrm>
            <a:off x="6272784" y="1828800"/>
            <a:ext cx="2240280" cy="26974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All 4 models: 83.3% test accuracy (15 of 18)</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100% recall, 80% precision; errors are false positives</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SVM is best over 50 splits: 84.4% ± 8.0%</a:t>
            </a:r>
            <a:endParaRPr lang="en-US" sz="1150" dirty="0"/>
          </a:p>
          <a:p>
            <a:pPr marL="342900" indent="-342900">
              <a:spcAft>
                <a:spcPts val="700"/>
              </a:spcAft>
              <a:buSzPct val="100000"/>
              <a:buChar char="•"/>
            </a:pPr>
            <a:r>
              <a:rPr lang="en-US" sz="1150" dirty="0">
                <a:solidFill>
                  <a:srgbClr val="1F2937"/>
                </a:solidFill>
                <a:latin typeface="Calibri" pitchFamily="34" charset="0"/>
                <a:ea typeface="Calibri" pitchFamily="34" charset="-122"/>
                <a:cs typeface="Calibri" pitchFamily="34" charset="-120"/>
              </a:rPr>
              <a:t>Decision tree overfits (75.1%)</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9D3E6"/>
                </a:solidFill>
                <a:latin typeface="Calibri" pitchFamily="34" charset="0"/>
                <a:ea typeface="Calibri" pitchFamily="34" charset="-122"/>
                <a:cs typeface="Calibri" pitchFamily="34" charset="-120"/>
              </a:rPr>
              <a:t>17</a:t>
            </a:r>
            <a:endParaRPr lang="en-US" sz="900" dirty="0"/>
          </a:p>
        </p:txBody>
      </p:sp>
      <p:sp>
        <p:nvSpPr>
          <p:cNvPr id="3" name="Text 1"/>
          <p:cNvSpPr txBox="1"/>
          <p:nvPr/>
        </p:nvSpPr>
        <p:spPr>
          <a:xfrm>
            <a:off x="548640" y="1371600"/>
            <a:ext cx="1828800" cy="914400"/>
          </a:xfrm>
          <a:prstGeom prst="rect">
            <a:avLst/>
          </a:prstGeom>
          <a:noFill/>
          <a:ln/>
        </p:spPr>
        <p:txBody>
          <a:bodyPr wrap="square" lIns="0" tIns="0" rIns="0" bIns="0" rtlCol="0" anchor="ctr"/>
          <a:lstStyle/>
          <a:p>
            <a:pPr indent="0" marL="0">
              <a:buNone/>
            </a:pPr>
            <a:r>
              <a:rPr lang="en-US" sz="6000" b="1" dirty="0">
                <a:solidFill>
                  <a:srgbClr val="FC7A1E"/>
                </a:solidFill>
                <a:latin typeface="Cambria" pitchFamily="34" charset="0"/>
                <a:ea typeface="Cambria" pitchFamily="34" charset="-122"/>
                <a:cs typeface="Cambria" pitchFamily="34" charset="-120"/>
              </a:rPr>
              <a:t>02</a:t>
            </a:r>
            <a:endParaRPr lang="en-US" sz="6000" dirty="0"/>
          </a:p>
        </p:txBody>
      </p:sp>
      <p:sp>
        <p:nvSpPr>
          <p:cNvPr id="4" name="Text 2"/>
          <p:cNvSpPr txBox="1"/>
          <p:nvPr/>
        </p:nvSpPr>
        <p:spPr>
          <a:xfrm>
            <a:off x="548640" y="2331720"/>
            <a:ext cx="7772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Insights Drawn from EDA</a:t>
            </a:r>
            <a:endParaRPr lang="en-US" sz="3600" dirty="0"/>
          </a:p>
        </p:txBody>
      </p:sp>
      <p:sp>
        <p:nvSpPr>
          <p:cNvPr id="5" name="Text 3"/>
          <p:cNvSpPr txBox="1"/>
          <p:nvPr/>
        </p:nvSpPr>
        <p:spPr>
          <a:xfrm>
            <a:off x="548640" y="3063240"/>
            <a:ext cx="7772400" cy="457200"/>
          </a:xfrm>
          <a:prstGeom prst="rect">
            <a:avLst/>
          </a:prstGeom>
          <a:noFill/>
          <a:ln/>
        </p:spPr>
        <p:txBody>
          <a:bodyPr wrap="square" lIns="0" tIns="0" rIns="0" bIns="0" rtlCol="0" anchor="ctr"/>
          <a:lstStyle/>
          <a:p>
            <a:pPr indent="0" marL="0">
              <a:buNone/>
            </a:pPr>
            <a:r>
              <a:rPr lang="en-US" sz="1600" dirty="0">
                <a:solidFill>
                  <a:srgbClr val="C9D3E6"/>
                </a:solidFill>
                <a:latin typeface="Calibri" pitchFamily="34" charset="0"/>
                <a:ea typeface="Calibri" pitchFamily="34" charset="-122"/>
                <a:cs typeface="Calibri" pitchFamily="34" charset="-120"/>
              </a:rPr>
              <a:t>EDA with visualization and EDA with SQL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Flight Number vs. Launch Site</a:t>
            </a:r>
            <a:endParaRPr lang="en-US" sz="2600" dirty="0"/>
          </a:p>
        </p:txBody>
      </p:sp>
      <p:pic>
        <p:nvPicPr>
          <p:cNvPr id="4" name="Image 0" descr="out/fig/flight_site.png">    </p:cNvPr>
          <p:cNvPicPr>
            <a:picLocks noChangeAspect="1"/>
          </p:cNvPicPr>
          <p:nvPr/>
        </p:nvPicPr>
        <p:blipFill>
          <a:blip r:embed="rId1"/>
          <a:stretch>
            <a:fillRect/>
          </a:stretch>
        </p:blipFill>
        <p:spPr>
          <a:xfrm>
            <a:off x="365760" y="1051560"/>
            <a:ext cx="5760720" cy="2601615"/>
          </a:xfrm>
          <a:prstGeom prst="rect">
            <a:avLst/>
          </a:prstGeom>
        </p:spPr>
      </p:pic>
      <p:sp>
        <p:nvSpPr>
          <p:cNvPr id="5" name="Shape 2"/>
          <p:cNvSpPr/>
          <p:nvPr/>
        </p:nvSpPr>
        <p:spPr>
          <a:xfrm>
            <a:off x="6355080" y="1097280"/>
            <a:ext cx="2331720" cy="3383280"/>
          </a:xfrm>
          <a:prstGeom prst="roundRect">
            <a:avLst>
              <a:gd name="adj" fmla="val 3137"/>
            </a:avLst>
          </a:prstGeom>
          <a:solidFill>
            <a:srgbClr val="F1F4F9"/>
          </a:solidFill>
          <a:ln w="12700">
            <a:solidFill>
              <a:srgbClr val="F1F4F9"/>
            </a:solidFill>
            <a:prstDash val="solid"/>
          </a:ln>
        </p:spPr>
      </p:sp>
      <p:sp>
        <p:nvSpPr>
          <p:cNvPr id="6" name="Text 3"/>
          <p:cNvSpPr txBox="1"/>
          <p:nvPr/>
        </p:nvSpPr>
        <p:spPr>
          <a:xfrm>
            <a:off x="6537960" y="1234440"/>
            <a:ext cx="1965960" cy="31089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INSIGHT</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Early flights (mostly from CCAFS SLC 40) failed to land. As flight numbers grow, green dominates at every site — experience matters more than location. KSC LC 39A only joined after flight 26 and started strong.</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Payload vs. Launch Site</a:t>
            </a:r>
            <a:endParaRPr lang="en-US" sz="2600" dirty="0"/>
          </a:p>
        </p:txBody>
      </p:sp>
      <p:pic>
        <p:nvPicPr>
          <p:cNvPr id="4" name="Image 0" descr="out/fig/payload_site.png">    </p:cNvPr>
          <p:cNvPicPr>
            <a:picLocks noChangeAspect="1"/>
          </p:cNvPicPr>
          <p:nvPr/>
        </p:nvPicPr>
        <p:blipFill>
          <a:blip r:embed="rId1"/>
          <a:stretch>
            <a:fillRect/>
          </a:stretch>
        </p:blipFill>
        <p:spPr>
          <a:xfrm>
            <a:off x="365760" y="1051560"/>
            <a:ext cx="5760720" cy="2601615"/>
          </a:xfrm>
          <a:prstGeom prst="rect">
            <a:avLst/>
          </a:prstGeom>
        </p:spPr>
      </p:pic>
      <p:sp>
        <p:nvSpPr>
          <p:cNvPr id="5" name="Shape 2"/>
          <p:cNvSpPr/>
          <p:nvPr/>
        </p:nvSpPr>
        <p:spPr>
          <a:xfrm>
            <a:off x="6355080" y="1097280"/>
            <a:ext cx="2331720" cy="3383280"/>
          </a:xfrm>
          <a:prstGeom prst="roundRect">
            <a:avLst>
              <a:gd name="adj" fmla="val 3137"/>
            </a:avLst>
          </a:prstGeom>
          <a:solidFill>
            <a:srgbClr val="F1F4F9"/>
          </a:solidFill>
          <a:ln w="12700">
            <a:solidFill>
              <a:srgbClr val="F1F4F9"/>
            </a:solidFill>
            <a:prstDash val="solid"/>
          </a:ln>
        </p:spPr>
      </p:sp>
      <p:sp>
        <p:nvSpPr>
          <p:cNvPr id="6" name="Text 3"/>
          <p:cNvSpPr txBox="1"/>
          <p:nvPr/>
        </p:nvSpPr>
        <p:spPr>
          <a:xfrm>
            <a:off x="6537960" y="1234440"/>
            <a:ext cx="1965960" cy="31089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INSIGHT</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VAFB SLC 4E launched no payloads above 10,000 kg. Heavy payloads (&gt; 8,000 kg) mostly landed (87%), largely because they flew late on Block 5 boosters.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Success Rate vs. Orbit Type</a:t>
            </a:r>
            <a:endParaRPr lang="en-US" sz="2600" dirty="0"/>
          </a:p>
        </p:txBody>
      </p:sp>
      <p:graphicFrame>
        <p:nvGraphicFramePr>
          <p:cNvPr id="4" name="Chart 0" descr=""/>
          <p:cNvGraphicFramePr/>
          <p:nvPr/>
        </p:nvGraphicFramePr>
        <p:xfrm>
          <a:off x="365760" y="1005840"/>
          <a:ext cx="576072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55080" y="1097280"/>
            <a:ext cx="2331720" cy="3383280"/>
          </a:xfrm>
          <a:prstGeom prst="roundRect">
            <a:avLst>
              <a:gd name="adj" fmla="val 3137"/>
            </a:avLst>
          </a:prstGeom>
          <a:solidFill>
            <a:srgbClr val="F1F4F9"/>
          </a:solidFill>
          <a:ln w="12700">
            <a:solidFill>
              <a:srgbClr val="F1F4F9"/>
            </a:solidFill>
            <a:prstDash val="solid"/>
          </a:ln>
        </p:spPr>
      </p:sp>
      <p:sp>
        <p:nvSpPr>
          <p:cNvPr id="6" name="Text 3"/>
          <p:cNvSpPr txBox="1"/>
          <p:nvPr/>
        </p:nvSpPr>
        <p:spPr>
          <a:xfrm>
            <a:off x="6537960" y="1234440"/>
            <a:ext cx="1965960" cy="31089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INSIGHT</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ES-L1, GEO, HEO and SSO landed every time, but with 1–5 launches each. Among the busy orbits, VLEO (86%) and LEO (71%) beat ISS (62%) and GTO (52%), the hardest orbit to recover from.</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Flight Number vs. Orbit Type</a:t>
            </a:r>
            <a:endParaRPr lang="en-US" sz="2600" dirty="0"/>
          </a:p>
        </p:txBody>
      </p:sp>
      <p:pic>
        <p:nvPicPr>
          <p:cNvPr id="4" name="Image 0" descr="out/fig/flight_orbit.png">    </p:cNvPr>
          <p:cNvPicPr>
            <a:picLocks noChangeAspect="1"/>
          </p:cNvPicPr>
          <p:nvPr/>
        </p:nvPicPr>
        <p:blipFill>
          <a:blip r:embed="rId1"/>
          <a:stretch>
            <a:fillRect/>
          </a:stretch>
        </p:blipFill>
        <p:spPr>
          <a:xfrm>
            <a:off x="365760" y="1051560"/>
            <a:ext cx="5760720" cy="2604563"/>
          </a:xfrm>
          <a:prstGeom prst="rect">
            <a:avLst/>
          </a:prstGeom>
        </p:spPr>
      </p:pic>
      <p:sp>
        <p:nvSpPr>
          <p:cNvPr id="5" name="Shape 2"/>
          <p:cNvSpPr/>
          <p:nvPr/>
        </p:nvSpPr>
        <p:spPr>
          <a:xfrm>
            <a:off x="6355080" y="1097280"/>
            <a:ext cx="2331720" cy="3383280"/>
          </a:xfrm>
          <a:prstGeom prst="roundRect">
            <a:avLst>
              <a:gd name="adj" fmla="val 3137"/>
            </a:avLst>
          </a:prstGeom>
          <a:solidFill>
            <a:srgbClr val="F1F4F9"/>
          </a:solidFill>
          <a:ln w="12700">
            <a:solidFill>
              <a:srgbClr val="F1F4F9"/>
            </a:solidFill>
            <a:prstDash val="solid"/>
          </a:ln>
        </p:spPr>
      </p:sp>
      <p:sp>
        <p:nvSpPr>
          <p:cNvPr id="6" name="Text 3"/>
          <p:cNvSpPr txBox="1"/>
          <p:nvPr/>
        </p:nvSpPr>
        <p:spPr>
          <a:xfrm>
            <a:off x="6537960" y="1234440"/>
            <a:ext cx="1965960" cy="31089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INSIGHT</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In LEO, success clearly tracks flight number. In GTO there is no such trend: failures continue into the later flights, so orbit energy, not just experience, limits recovery.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Payload vs. Orbit Type</a:t>
            </a:r>
            <a:endParaRPr lang="en-US" sz="2600" dirty="0"/>
          </a:p>
        </p:txBody>
      </p:sp>
      <p:pic>
        <p:nvPicPr>
          <p:cNvPr id="4" name="Image 0" descr="out/fig/payload_orbit.png">    </p:cNvPr>
          <p:cNvPicPr>
            <a:picLocks noChangeAspect="1"/>
          </p:cNvPicPr>
          <p:nvPr/>
        </p:nvPicPr>
        <p:blipFill>
          <a:blip r:embed="rId1"/>
          <a:stretch>
            <a:fillRect/>
          </a:stretch>
        </p:blipFill>
        <p:spPr>
          <a:xfrm>
            <a:off x="365760" y="1051560"/>
            <a:ext cx="5760720" cy="2607518"/>
          </a:xfrm>
          <a:prstGeom prst="rect">
            <a:avLst/>
          </a:prstGeom>
        </p:spPr>
      </p:pic>
      <p:sp>
        <p:nvSpPr>
          <p:cNvPr id="5" name="Shape 2"/>
          <p:cNvSpPr/>
          <p:nvPr/>
        </p:nvSpPr>
        <p:spPr>
          <a:xfrm>
            <a:off x="6355080" y="1097280"/>
            <a:ext cx="2331720" cy="3383280"/>
          </a:xfrm>
          <a:prstGeom prst="roundRect">
            <a:avLst>
              <a:gd name="adj" fmla="val 3137"/>
            </a:avLst>
          </a:prstGeom>
          <a:solidFill>
            <a:srgbClr val="F1F4F9"/>
          </a:solidFill>
          <a:ln w="12700">
            <a:solidFill>
              <a:srgbClr val="F1F4F9"/>
            </a:solidFill>
            <a:prstDash val="solid"/>
          </a:ln>
        </p:spPr>
      </p:sp>
      <p:sp>
        <p:nvSpPr>
          <p:cNvPr id="6" name="Text 3"/>
          <p:cNvSpPr txBox="1"/>
          <p:nvPr/>
        </p:nvSpPr>
        <p:spPr>
          <a:xfrm>
            <a:off x="6537960" y="1234440"/>
            <a:ext cx="1965960" cy="31089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INSIGHT</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Heavy payloads land well in Polar, LEO, ISS and VLEO orbits. GTO payloads (3,000–7,000 kg) are a mix of successes and failures, with no clear payload threshold.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Launch Success Yearly Trend</a:t>
            </a:r>
            <a:endParaRPr lang="en-US" sz="2600" dirty="0"/>
          </a:p>
        </p:txBody>
      </p:sp>
      <p:graphicFrame>
        <p:nvGraphicFramePr>
          <p:cNvPr id="4" name="Chart 0" descr=""/>
          <p:cNvGraphicFramePr/>
          <p:nvPr/>
        </p:nvGraphicFramePr>
        <p:xfrm>
          <a:off x="365760" y="1005840"/>
          <a:ext cx="576072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55080" y="1097280"/>
            <a:ext cx="2331720" cy="3383280"/>
          </a:xfrm>
          <a:prstGeom prst="roundRect">
            <a:avLst>
              <a:gd name="adj" fmla="val 3137"/>
            </a:avLst>
          </a:prstGeom>
          <a:solidFill>
            <a:srgbClr val="F1F4F9"/>
          </a:solidFill>
          <a:ln w="12700">
            <a:solidFill>
              <a:srgbClr val="F1F4F9"/>
            </a:solidFill>
            <a:prstDash val="solid"/>
          </a:ln>
        </p:spPr>
      </p:sp>
      <p:sp>
        <p:nvSpPr>
          <p:cNvPr id="6" name="Text 3"/>
          <p:cNvSpPr txBox="1"/>
          <p:nvPr/>
        </p:nvSpPr>
        <p:spPr>
          <a:xfrm>
            <a:off x="6537960" y="1234440"/>
            <a:ext cx="1965960" cy="31089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INSIGHT</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No landings succeeded from 2010 to 2013. The rate climbed steadily from 2013, dipped in 2018 as Block 5 was introduced, and reached 90% in 2019.</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All Launch Site Names</a:t>
            </a:r>
            <a:endParaRPr lang="en-US" sz="26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DISTINCT Launch_Site FROM SPACEXTABLE</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3657600" cy="914400"/>
        </p:xfrm>
        <a:graphic>
          <a:graphicData uri="http://schemas.openxmlformats.org/drawingml/2006/table">
            <a:tbl>
              <a:tblPr/>
              <a:tblGrid>
                <a:gridCol w="365760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Launch_Site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CCAFS LC-40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VAFB SLC-4E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KSC LC-39A</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CCAFS SLC-40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4389120" y="1920240"/>
            <a:ext cx="429768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4572000" y="2057400"/>
            <a:ext cx="393192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DISTINCT returns each launch site once. SpaceX used four sites: three in Florida (CCAFS LC-40, CCAFS SLC-40, KSC LC-39A) and one in California (VAFB SLC-4E).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Launch Site Names Begin with 'CCA'</a:t>
            </a:r>
            <a:endParaRPr lang="en-US" sz="26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Date, Booster_Version, Launch_Site, Payload, PAYLOAD_MASS__KG_, Customer, Landing_Outcome FROM SPACEXTABLE WHERE Launch_Site LIKE 'CCA%' LIMIT 5</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229600" cy="914400"/>
        </p:xfrm>
        <a:graphic>
          <a:graphicData uri="http://schemas.openxmlformats.org/drawingml/2006/table">
            <a:tbl>
              <a:tblPr/>
              <a:tblGrid>
                <a:gridCol w="731520"/>
                <a:gridCol w="1005840"/>
                <a:gridCol w="868680"/>
                <a:gridCol w="2377440"/>
                <a:gridCol w="1005840"/>
                <a:gridCol w="1097280"/>
                <a:gridCol w="1143000"/>
              </a:tblGrid>
              <a:tr h="22860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Date</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Booster_Version</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Launch_Site</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Payload</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PAYLOAD_MASS__KG_</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Customer</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Landing_Outcome</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28600">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2010-06-04</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F9 v1.0  B0003</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CCAFS LC-40</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Dragon Spacecraft Qualification Unit</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0</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SpaceX</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Failure (parachute)</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28600">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2010-12-08</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F9 v1.0  B0004</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CCAFS LC-40</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Dragon demo flight C1, two CubeSats, barrel of Brouere cheese</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0</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NASA (COTS) NRO</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Failure (parachute)</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28600">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2012-05-22</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F9 v1.0  B0005</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CCAFS LC-40</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Dragon demo flight C2</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525</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NASA (COTS)</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No attempt</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28600">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2012-10-08</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F9 v1.0  B0006</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CCAFS LC-40</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SpaceX CRS-1</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500</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NASA (CRS)</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No attempt</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28600">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2013-03-01</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F9 v1.0  B0007</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CCAFS LC-40</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SpaceX CRS-2</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677</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NASA (CRS)</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800" dirty="0">
                          <a:solidFill>
                            <a:srgbClr val="1F2937"/>
                          </a:solidFill>
                          <a:latin typeface="Calibri" pitchFamily="34" charset="0"/>
                          <a:ea typeface="Calibri" pitchFamily="34" charset="-122"/>
                          <a:cs typeface="Calibri" pitchFamily="34" charset="-120"/>
                        </a:rPr>
                        <a:t>No attempt</a:t>
                      </a:r>
                      <a:endParaRPr lang="en-US" sz="8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457200" y="3931920"/>
            <a:ext cx="8229600" cy="731520"/>
          </a:xfrm>
          <a:prstGeom prst="roundRect">
            <a:avLst>
              <a:gd name="adj" fmla="val 10000"/>
            </a:avLst>
          </a:prstGeom>
          <a:solidFill>
            <a:srgbClr val="F1F4F9"/>
          </a:solidFill>
          <a:ln w="12700">
            <a:solidFill>
              <a:srgbClr val="F1F4F9"/>
            </a:solidFill>
            <a:prstDash val="solid"/>
          </a:ln>
        </p:spPr>
      </p:sp>
      <p:sp>
        <p:nvSpPr>
          <p:cNvPr id="8" name="Text 5"/>
          <p:cNvSpPr txBox="1"/>
          <p:nvPr/>
        </p:nvSpPr>
        <p:spPr>
          <a:xfrm>
            <a:off x="640080" y="4069080"/>
            <a:ext cx="7863840" cy="45720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LIKE 'CCA%' matches sites starting with CCA and LIMIT 5 keeps the first five rows: the earliest Falcon 9 flights, all from CCAFS LC-40, carrying Dragon test and CRS missions with no successful landing.</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Total Payload Mass</a:t>
            </a:r>
            <a:endParaRPr lang="en-US" sz="26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SUM(PAYLOAD_MASS__KG_) AS Total_Payload_Mass FROM SPACEXTABLE WHERE Customer = 'NASA (CRS)'</a:t>
            </a:r>
            <a:endParaRPr lang="en-US" sz="10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3200400" cy="914400"/>
        </p:xfrm>
        <a:graphic>
          <a:graphicData uri="http://schemas.openxmlformats.org/drawingml/2006/table">
            <a:tbl>
              <a:tblPr/>
              <a:tblGrid>
                <a:gridCol w="320040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Total_Payload_Mass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45596</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3931920" y="1920240"/>
            <a:ext cx="475488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4114800" y="2057400"/>
            <a:ext cx="438912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SUM over launches whose customer is 'NASA (CRS)': boosters carried 45,596 kg in total for NASA's Commercial Resupply Services missions.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Average Payload Mass by F9 v1.1</a:t>
            </a:r>
            <a:endParaRPr lang="en-US" sz="26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AVG(PAYLOAD_MASS__KG_) AS Avg_Payload_Mass FROM SPACEXTABLE WHERE Booster_Version = 'F9 v1.1'</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3200400" cy="914400"/>
        </p:xfrm>
        <a:graphic>
          <a:graphicData uri="http://schemas.openxmlformats.org/drawingml/2006/table">
            <a:tbl>
              <a:tblPr/>
              <a:tblGrid>
                <a:gridCol w="320040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Avg_Payload_Mass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2928.4</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3931920" y="1920240"/>
            <a:ext cx="475488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4114800" y="2057400"/>
            <a:ext cx="438912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AVG over launches with booster version 'F9 v1.1': the average payload was 2,928.4 kg.</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First Successful Ground Landing Date</a:t>
            </a:r>
            <a:endParaRPr lang="en-US" sz="26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MIN(Date) AS First_Ground_Pad_Success FROM SPACEXTABLE WHERE Landing_Outcome = 'Success (ground pad)'</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3200400" cy="914400"/>
        </p:xfrm>
        <a:graphic>
          <a:graphicData uri="http://schemas.openxmlformats.org/drawingml/2006/table">
            <a:tbl>
              <a:tblPr/>
              <a:tblGrid>
                <a:gridCol w="320040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First_Ground_Pad_Success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2015-12-22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3931920" y="1920240"/>
            <a:ext cx="475488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4114800" y="2057400"/>
            <a:ext cx="438912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MIN(Date) where Landing_Outcome = 'Success (ground pad)': the first successful ground-pad landing was on 22 December 2015.</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Successful Drone Ship Landing with Payload between 4000 and 6000</a:t>
            </a:r>
            <a:endParaRPr lang="en-US" sz="20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Booster_Version FROM SPACEXTABLE WHERE Landing_Outcome = 'Success (drone ship)' AND PAYLOAD_MASS__KG_ &gt; 4000 AND PAYLOAD_MASS__KG_ &lt; 6000</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3200400" cy="914400"/>
        </p:xfrm>
        <a:graphic>
          <a:graphicData uri="http://schemas.openxmlformats.org/drawingml/2006/table">
            <a:tbl>
              <a:tblPr/>
              <a:tblGrid>
                <a:gridCol w="320040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Booster_Version</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F9 FT B1022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F9 FT B1026</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F9 FT  B1021.2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F9 FT  B1031.2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3931920" y="1920240"/>
            <a:ext cx="475488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4114800" y="2057400"/>
            <a:ext cx="438912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Four boosters landed on a drone ship while carrying 4,000–6,000 kg, all of the Full Thrust (FT) generation: B1022, B1026, B1021.2 and B1031.2.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Total Number of Successful and Failure Mission Outcomes</a:t>
            </a:r>
            <a:endParaRPr lang="en-US" sz="20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Mission_Outcome, COUNT(*) AS Total FROM SPACEXTABLE GROUP BY Mission_Outcome</a:t>
            </a:r>
            <a:endParaRPr lang="en-US" sz="10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4114800" cy="914400"/>
        </p:xfrm>
        <a:graphic>
          <a:graphicData uri="http://schemas.openxmlformats.org/drawingml/2006/table">
            <a:tbl>
              <a:tblPr/>
              <a:tblGrid>
                <a:gridCol w="2057400"/>
                <a:gridCol w="205740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Mission_Outcome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Failure (in flight)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Success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98</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Success</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Success (payload status unclear)</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4846320" y="1920240"/>
            <a:ext cx="384048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5029200" y="2057400"/>
            <a:ext cx="347472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GROUP BY Mission_Outcome with COUNT(*): 100 missions succeeded (98 + 1 with a trailing space + 1 with unclear payload status) and only 1 failed in flight.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Boosters Carried Maximum Payload</a:t>
            </a:r>
            <a:endParaRPr lang="en-US" sz="26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DISTINCT Booster_Version FROM SPACEXTABLE WHERE PAYLOAD_MASS__KG_ = (SELECT MAX(PAYLOAD_MASS__KG_) FROM SPACEXTABLE)</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3200400" cy="914400"/>
        </p:xfrm>
        <a:graphic>
          <a:graphicData uri="http://schemas.openxmlformats.org/drawingml/2006/table">
            <a:tbl>
              <a:tblPr/>
              <a:tblGrid>
                <a:gridCol w="3200400"/>
              </a:tblGrid>
              <a:tr h="18288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Booster_Version</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B1048.4</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B1049.4</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B1051.3</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B1056.4</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B1048.5</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B1051.4</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B1049.5</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B1060.2</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B1058.3</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B1051.6</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B1060.3</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182880">
                <a:tc>
                  <a:txBody>
                    <a:bodyPr/>
                    <a:lstStyle/>
                    <a:p>
                      <a:pPr indent="0" marL="0">
                        <a:buNone/>
                      </a:pPr>
                      <a:r>
                        <a:rPr lang="en-US" sz="850" dirty="0">
                          <a:solidFill>
                            <a:srgbClr val="1F2937"/>
                          </a:solidFill>
                          <a:latin typeface="Calibri" pitchFamily="34" charset="0"/>
                          <a:ea typeface="Calibri" pitchFamily="34" charset="-122"/>
                          <a:cs typeface="Calibri" pitchFamily="34" charset="-120"/>
                        </a:rPr>
                        <a:t>F9 B5 B1049.7</a:t>
                      </a:r>
                      <a:endParaRPr lang="en-US" sz="8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3931920" y="1920240"/>
            <a:ext cx="475488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4114800" y="2057400"/>
            <a:ext cx="438912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A subquery finds the maximum payload (15,600 kg); 12 boosters carried it, all Block 5 (F9 B5) boosters.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2015 Launch Records</a:t>
            </a:r>
            <a:endParaRPr lang="en-US" sz="26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substr(Date,6,2) AS Month, Landing_Outcome, Booster_Version, Launch_Site FROM SPACEXTABLE WHERE substr(Date,1,4)='2015' AND Landing_Outcome='Failure (drone ship)'</a:t>
            </a:r>
            <a:endParaRPr lang="en-US" sz="10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5120640" cy="914400"/>
        </p:xfrm>
        <a:graphic>
          <a:graphicData uri="http://schemas.openxmlformats.org/drawingml/2006/table">
            <a:tbl>
              <a:tblPr/>
              <a:tblGrid>
                <a:gridCol w="1280160"/>
                <a:gridCol w="1280160"/>
                <a:gridCol w="1280160"/>
                <a:gridCol w="128016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Landing_Outcome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Booster_Version</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Launch_Site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Failure (drone ship)</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F9 v1.1 B1012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CCAFS LC-40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Failure (drone ship)</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F9 v1.1 B1015</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CCAFS LC-40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5852160" y="1920240"/>
            <a:ext cx="283464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6035040" y="2057400"/>
            <a:ext cx="246888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substr(Date, 6, 2) gives the month and substr(Date, 1, 4) = '2015' the year. Two drone-ship landings failed in 2015, in January (B1012) and April (B1015), both from CCAFS LC-40.</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Rank Landing Outcomes Between 2010-06-04 and 2017-03-20</a:t>
            </a:r>
            <a:endParaRPr lang="en-US" sz="2000" dirty="0"/>
          </a:p>
        </p:txBody>
      </p:sp>
      <p:sp>
        <p:nvSpPr>
          <p:cNvPr id="4" name="Shape 2"/>
          <p:cNvSpPr/>
          <p:nvPr/>
        </p:nvSpPr>
        <p:spPr>
          <a:xfrm>
            <a:off x="457200" y="1051560"/>
            <a:ext cx="8229600" cy="685800"/>
          </a:xfrm>
          <a:prstGeom prst="roundRect">
            <a:avLst>
              <a:gd name="adj" fmla="val 10667"/>
            </a:avLst>
          </a:prstGeom>
          <a:solidFill>
            <a:srgbClr val="F8FAFC"/>
          </a:solidFill>
          <a:ln w="12700">
            <a:solidFill>
              <a:srgbClr val="F8FAFC"/>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050" b="1" dirty="0">
                <a:solidFill>
                  <a:srgbClr val="FC7A1E"/>
                </a:solidFill>
                <a:latin typeface="Calibri" pitchFamily="34" charset="0"/>
                <a:ea typeface="Calibri" pitchFamily="34" charset="-122"/>
                <a:cs typeface="Calibri" pitchFamily="34" charset="-120"/>
              </a:rPr>
              <a:t>Query  </a:t>
            </a:r>
            <a:pPr indent="0" marL="0">
              <a:buNone/>
            </a:pPr>
            <a:r>
              <a:rPr lang="en-US" sz="1050" dirty="0">
                <a:solidFill>
                  <a:srgbClr val="1F2937"/>
                </a:solidFill>
                <a:latin typeface="Courier New" pitchFamily="34" charset="0"/>
                <a:ea typeface="Courier New" pitchFamily="34" charset="-122"/>
                <a:cs typeface="Courier New" pitchFamily="34" charset="-120"/>
              </a:rPr>
              <a:t>SELECT Landing_Outcome, COUNT(*) AS Count FROM SPACEXTABLE WHERE Date BETWEEN '2010-06-04' AND '2017-03-20' GROUP BY Landing_Outcome ORDER BY Count DESC</a:t>
            </a:r>
            <a:endParaRPr lang="en-US" sz="10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4114800" cy="914400"/>
        </p:xfrm>
        <a:graphic>
          <a:graphicData uri="http://schemas.openxmlformats.org/drawingml/2006/table">
            <a:tbl>
              <a:tblPr/>
              <a:tblGrid>
                <a:gridCol w="2057400"/>
                <a:gridCol w="205740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Landing_Outcome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Count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No attempt</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Success (drone ship)</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Failure (drone ship)</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Success (ground pad)</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Controlled (ocean)</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Uncontrolled (ocean)</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Failure (parachute)</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Precluded (drone ship)</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4846320" y="1920240"/>
            <a:ext cx="3840480" cy="2651760"/>
          </a:xfrm>
          <a:prstGeom prst="roundRect">
            <a:avLst>
              <a:gd name="adj" fmla="val 2759"/>
            </a:avLst>
          </a:prstGeom>
          <a:solidFill>
            <a:srgbClr val="F1F4F9"/>
          </a:solidFill>
          <a:ln w="12700">
            <a:solidFill>
              <a:srgbClr val="F1F4F9"/>
            </a:solidFill>
            <a:prstDash val="solid"/>
          </a:ln>
        </p:spPr>
      </p:sp>
      <p:sp>
        <p:nvSpPr>
          <p:cNvPr id="8" name="Text 5"/>
          <p:cNvSpPr txBox="1"/>
          <p:nvPr/>
        </p:nvSpPr>
        <p:spPr>
          <a:xfrm>
            <a:off x="5029200" y="2057400"/>
            <a:ext cx="3474720" cy="2377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EXPLANATION</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GROUP BY landing outcome, ORDER BY count DESC. "No attempt" leads (10); drone-ship successes and failures tie at 5 each; ground-pad successes (3) were still rare in this early period.</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9D3E6"/>
                </a:solidFill>
                <a:latin typeface="Calibri" pitchFamily="34" charset="0"/>
                <a:ea typeface="Calibri" pitchFamily="34" charset="-122"/>
                <a:cs typeface="Calibri" pitchFamily="34" charset="-120"/>
              </a:rPr>
              <a:t>34</a:t>
            </a:r>
            <a:endParaRPr lang="en-US" sz="900" dirty="0"/>
          </a:p>
        </p:txBody>
      </p:sp>
      <p:sp>
        <p:nvSpPr>
          <p:cNvPr id="3" name="Text 1"/>
          <p:cNvSpPr txBox="1"/>
          <p:nvPr/>
        </p:nvSpPr>
        <p:spPr>
          <a:xfrm>
            <a:off x="548640" y="1371600"/>
            <a:ext cx="1828800" cy="914400"/>
          </a:xfrm>
          <a:prstGeom prst="rect">
            <a:avLst/>
          </a:prstGeom>
          <a:noFill/>
          <a:ln/>
        </p:spPr>
        <p:txBody>
          <a:bodyPr wrap="square" lIns="0" tIns="0" rIns="0" bIns="0" rtlCol="0" anchor="ctr"/>
          <a:lstStyle/>
          <a:p>
            <a:pPr indent="0" marL="0">
              <a:buNone/>
            </a:pPr>
            <a:r>
              <a:rPr lang="en-US" sz="6000" b="1" dirty="0">
                <a:solidFill>
                  <a:srgbClr val="FC7A1E"/>
                </a:solidFill>
                <a:latin typeface="Cambria" pitchFamily="34" charset="0"/>
                <a:ea typeface="Cambria" pitchFamily="34" charset="-122"/>
                <a:cs typeface="Cambria" pitchFamily="34" charset="-120"/>
              </a:rPr>
              <a:t>03</a:t>
            </a:r>
            <a:endParaRPr lang="en-US" sz="6000" dirty="0"/>
          </a:p>
        </p:txBody>
      </p:sp>
      <p:sp>
        <p:nvSpPr>
          <p:cNvPr id="4" name="Text 2"/>
          <p:cNvSpPr txBox="1"/>
          <p:nvPr/>
        </p:nvSpPr>
        <p:spPr>
          <a:xfrm>
            <a:off x="548640" y="2331720"/>
            <a:ext cx="7772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Launch Sites Proximity Analysis</a:t>
            </a:r>
            <a:endParaRPr lang="en-US" sz="3600" dirty="0"/>
          </a:p>
        </p:txBody>
      </p:sp>
      <p:sp>
        <p:nvSpPr>
          <p:cNvPr id="5" name="Text 3"/>
          <p:cNvSpPr txBox="1"/>
          <p:nvPr/>
        </p:nvSpPr>
        <p:spPr>
          <a:xfrm>
            <a:off x="548640" y="3063240"/>
            <a:ext cx="7772400" cy="457200"/>
          </a:xfrm>
          <a:prstGeom prst="rect">
            <a:avLst/>
          </a:prstGeom>
          <a:noFill/>
          <a:ln/>
        </p:spPr>
        <p:txBody>
          <a:bodyPr wrap="square" lIns="0" tIns="0" rIns="0" bIns="0" rtlCol="0" anchor="ctr"/>
          <a:lstStyle/>
          <a:p>
            <a:pPr indent="0" marL="0">
              <a:buNone/>
            </a:pPr>
            <a:r>
              <a:rPr lang="en-US" sz="1600" dirty="0">
                <a:solidFill>
                  <a:srgbClr val="C9D3E6"/>
                </a:solidFill>
                <a:latin typeface="Calibri" pitchFamily="34" charset="0"/>
                <a:ea typeface="Calibri" pitchFamily="34" charset="-122"/>
                <a:cs typeface="Calibri" pitchFamily="34" charset="-120"/>
              </a:rPr>
              <a:t>Interactive maps built with Folium</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35</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Folium Map — All Launch Sites</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folium.Circle + folium.Marker at each site's latitude / longitude</a:t>
            </a:r>
            <a:endParaRPr lang="en-US" sz="1300" dirty="0"/>
          </a:p>
        </p:txBody>
      </p:sp>
      <p:pic>
        <p:nvPicPr>
          <p:cNvPr id="5" name="Image 0" descr="out/fig/folium_sites.png">    </p:cNvPr>
          <p:cNvPicPr>
            <a:picLocks noChangeAspect="1"/>
          </p:cNvPicPr>
          <p:nvPr/>
        </p:nvPicPr>
        <p:blipFill>
          <a:blip r:embed="rId1"/>
          <a:stretch>
            <a:fillRect/>
          </a:stretch>
        </p:blipFill>
        <p:spPr>
          <a:xfrm>
            <a:off x="365760" y="1234440"/>
            <a:ext cx="5852160" cy="3121152"/>
          </a:xfrm>
          <a:prstGeom prst="rect">
            <a:avLst/>
          </a:prstGeom>
        </p:spPr>
      </p:pic>
      <p:sp>
        <p:nvSpPr>
          <p:cNvPr id="6" name="Shape 3"/>
          <p:cNvSpPr/>
          <p:nvPr/>
        </p:nvSpPr>
        <p:spPr>
          <a:xfrm>
            <a:off x="6400800" y="1234440"/>
            <a:ext cx="2286000" cy="3154680"/>
          </a:xfrm>
          <a:prstGeom prst="roundRect">
            <a:avLst>
              <a:gd name="adj" fmla="val 3200"/>
            </a:avLst>
          </a:prstGeom>
          <a:solidFill>
            <a:srgbClr val="F1F4F9"/>
          </a:solidFill>
          <a:ln w="12700">
            <a:solidFill>
              <a:srgbClr val="F1F4F9"/>
            </a:solidFill>
            <a:prstDash val="solid"/>
          </a:ln>
        </p:spPr>
      </p:sp>
      <p:sp>
        <p:nvSpPr>
          <p:cNvPr id="7" name="Text 4"/>
          <p:cNvSpPr txBox="1"/>
          <p:nvPr/>
        </p:nvSpPr>
        <p:spPr>
          <a:xfrm>
            <a:off x="6583680" y="1371600"/>
            <a:ext cx="1920240" cy="28803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FINDINGS</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All four sites sit on a coast at the southern edge of the U.S. (close to the Equator). Florida sites launch east over the Atlantic; Vandenberg launches south over the Pacific for polar orbits.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Folium Map — Launch Outcomes per Site</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MarkerCluster of every launch: green marker = landed (class 1), red = failed (class 0)</a:t>
            </a:r>
            <a:endParaRPr lang="en-US" sz="1300" dirty="0"/>
          </a:p>
        </p:txBody>
      </p:sp>
      <p:pic>
        <p:nvPicPr>
          <p:cNvPr id="5" name="Image 0" descr="out/fig/folium_cluster.png">    </p:cNvPr>
          <p:cNvPicPr>
            <a:picLocks noChangeAspect="1"/>
          </p:cNvPicPr>
          <p:nvPr/>
        </p:nvPicPr>
        <p:blipFill>
          <a:blip r:embed="rId1"/>
          <a:stretch>
            <a:fillRect/>
          </a:stretch>
        </p:blipFill>
        <p:spPr>
          <a:xfrm>
            <a:off x="365760" y="1234440"/>
            <a:ext cx="4023360" cy="2145792"/>
          </a:xfrm>
          <a:prstGeom prst="rect">
            <a:avLst/>
          </a:prstGeom>
        </p:spPr>
      </p:pic>
      <p:pic>
        <p:nvPicPr>
          <p:cNvPr id="6" name="Image 1" descr="out/fig/folium_spider.png">    </p:cNvPr>
          <p:cNvPicPr>
            <a:picLocks noChangeAspect="1"/>
          </p:cNvPicPr>
          <p:nvPr/>
        </p:nvPicPr>
        <p:blipFill>
          <a:blip r:embed="rId2"/>
          <a:stretch>
            <a:fillRect/>
          </a:stretch>
        </p:blipFill>
        <p:spPr>
          <a:xfrm>
            <a:off x="4663440" y="1234440"/>
            <a:ext cx="4023360" cy="2145792"/>
          </a:xfrm>
          <a:prstGeom prst="rect">
            <a:avLst/>
          </a:prstGeom>
        </p:spPr>
      </p:pic>
      <p:sp>
        <p:nvSpPr>
          <p:cNvPr id="7" name="Text 3"/>
          <p:cNvSpPr txBox="1"/>
          <p:nvPr/>
        </p:nvSpPr>
        <p:spPr>
          <a:xfrm>
            <a:off x="365760" y="3429000"/>
            <a:ext cx="402336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Clusters show 13 launches at KSC LC-39A and 33 at the CCAFS pad</a:t>
            </a:r>
            <a:endParaRPr lang="en-US" sz="1050" dirty="0"/>
          </a:p>
        </p:txBody>
      </p:sp>
      <p:sp>
        <p:nvSpPr>
          <p:cNvPr id="8" name="Text 4"/>
          <p:cNvSpPr txBox="1"/>
          <p:nvPr/>
        </p:nvSpPr>
        <p:spPr>
          <a:xfrm>
            <a:off x="4663440" y="3429000"/>
            <a:ext cx="402336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Clicking the KSC LC-39A cluster: 10 green, 3 red markers</a:t>
            </a:r>
            <a:endParaRPr lang="en-US" sz="1050" dirty="0"/>
          </a:p>
        </p:txBody>
      </p:sp>
      <p:sp>
        <p:nvSpPr>
          <p:cNvPr id="9" name="Shape 5"/>
          <p:cNvSpPr/>
          <p:nvPr/>
        </p:nvSpPr>
        <p:spPr>
          <a:xfrm>
            <a:off x="365760" y="3840480"/>
            <a:ext cx="8321040" cy="822960"/>
          </a:xfrm>
          <a:prstGeom prst="roundRect">
            <a:avLst>
              <a:gd name="adj" fmla="val 8889"/>
            </a:avLst>
          </a:prstGeom>
          <a:solidFill>
            <a:srgbClr val="F1F4F9"/>
          </a:solidFill>
          <a:ln w="12700">
            <a:solidFill>
              <a:srgbClr val="F1F4F9"/>
            </a:solidFill>
            <a:prstDash val="solid"/>
          </a:ln>
        </p:spPr>
      </p:sp>
      <p:sp>
        <p:nvSpPr>
          <p:cNvPr id="10" name="Text 6"/>
          <p:cNvSpPr txBox="1"/>
          <p:nvPr/>
        </p:nvSpPr>
        <p:spPr>
          <a:xfrm>
            <a:off x="548640" y="3913632"/>
            <a:ext cx="7955280" cy="676656"/>
          </a:xfrm>
          <a:prstGeom prst="rect">
            <a:avLst/>
          </a:prstGeom>
          <a:noFill/>
          <a:ln/>
        </p:spPr>
        <p:txBody>
          <a:bodyPr wrap="square" lIns="0" tIns="0" rIns="0" bIns="0" rtlCol="0" anchor="ctr"/>
          <a:lstStyle/>
          <a:p>
            <a:pPr indent="0" marL="0">
              <a:buNone/>
            </a:pPr>
            <a:r>
              <a:rPr lang="en-US" sz="1250" b="1" dirty="0">
                <a:solidFill>
                  <a:srgbClr val="FC7A1E"/>
                </a:solidFill>
                <a:latin typeface="Calibri" pitchFamily="34" charset="0"/>
                <a:ea typeface="Calibri" pitchFamily="34" charset="-122"/>
                <a:cs typeface="Calibri" pitchFamily="34" charset="-120"/>
              </a:rPr>
              <a:t>FINDINGS  </a:t>
            </a:r>
            <a:pPr indent="0" marL="0">
              <a:buNone/>
            </a:pPr>
            <a:r>
              <a:rPr lang="en-US" sz="1250" dirty="0">
                <a:solidFill>
                  <a:srgbClr val="1F2937"/>
                </a:solidFill>
                <a:latin typeface="Calibri" pitchFamily="34" charset="0"/>
                <a:ea typeface="Calibri" pitchFamily="34" charset="-122"/>
                <a:cs typeface="Calibri" pitchFamily="34" charset="-120"/>
              </a:rPr>
              <a:t>KSC LC-39A has the best ratio (10 landed / 3 failed, 76.9%). The CCAFS pad (LC-40 + SLC-40) flew most launches but mostly early ones, so it has the most failures (10 / 23).</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37</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Folium Map — Proximity of CCAFS SLC-40</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folium.PolyLine from the launch site, distances computed with the haversine formula</a:t>
            </a:r>
            <a:endParaRPr lang="en-US" sz="1300" dirty="0"/>
          </a:p>
        </p:txBody>
      </p:sp>
      <p:pic>
        <p:nvPicPr>
          <p:cNvPr id="5" name="Image 0" descr="out/fig/folium_proximity.png">    </p:cNvPr>
          <p:cNvPicPr>
            <a:picLocks noChangeAspect="1"/>
          </p:cNvPicPr>
          <p:nvPr/>
        </p:nvPicPr>
        <p:blipFill>
          <a:blip r:embed="rId1"/>
          <a:stretch>
            <a:fillRect/>
          </a:stretch>
        </p:blipFill>
        <p:spPr>
          <a:xfrm>
            <a:off x="365760" y="1234440"/>
            <a:ext cx="5852160" cy="3121152"/>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400800" y="1234440"/>
          <a:ext cx="2286000" cy="914400"/>
        </p:xfrm>
        <a:graphic>
          <a:graphicData uri="http://schemas.openxmlformats.org/drawingml/2006/table">
            <a:tbl>
              <a:tblPr/>
              <a:tblGrid>
                <a:gridCol w="1234440"/>
                <a:gridCol w="105156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Nearest…</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Distance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29260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Coastline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0.87 km</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Titusville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23.2 km</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Cocoa</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25.5 km</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29260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Melbourne</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53.4 km</a:t>
                      </a:r>
                      <a:endParaRPr lang="en-US" sz="11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3"/>
          <p:cNvSpPr/>
          <p:nvPr/>
        </p:nvSpPr>
        <p:spPr>
          <a:xfrm>
            <a:off x="6400800" y="2880360"/>
            <a:ext cx="2286000" cy="1508760"/>
          </a:xfrm>
          <a:prstGeom prst="roundRect">
            <a:avLst>
              <a:gd name="adj" fmla="val 4848"/>
            </a:avLst>
          </a:prstGeom>
          <a:solidFill>
            <a:srgbClr val="F1F4F9"/>
          </a:solidFill>
          <a:ln w="12700">
            <a:solidFill>
              <a:srgbClr val="F1F4F9"/>
            </a:solidFill>
            <a:prstDash val="solid"/>
          </a:ln>
        </p:spPr>
      </p:sp>
      <p:sp>
        <p:nvSpPr>
          <p:cNvPr id="8" name="Text 4"/>
          <p:cNvSpPr txBox="1"/>
          <p:nvPr/>
        </p:nvSpPr>
        <p:spPr>
          <a:xfrm>
            <a:off x="6583680" y="3017520"/>
            <a:ext cx="1920240" cy="123444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FINDINGS</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The pad is under 1 km from the sea (safe abort and recovery over water) and 23+ km from the nearest towns for public safety.</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9D3E6"/>
                </a:solidFill>
                <a:latin typeface="Calibri" pitchFamily="34" charset="0"/>
                <a:ea typeface="Calibri" pitchFamily="34" charset="-122"/>
                <a:cs typeface="Calibri" pitchFamily="34" charset="-120"/>
              </a:rPr>
              <a:t>38</a:t>
            </a:r>
            <a:endParaRPr lang="en-US" sz="900" dirty="0"/>
          </a:p>
        </p:txBody>
      </p:sp>
      <p:sp>
        <p:nvSpPr>
          <p:cNvPr id="3" name="Text 1"/>
          <p:cNvSpPr txBox="1"/>
          <p:nvPr/>
        </p:nvSpPr>
        <p:spPr>
          <a:xfrm>
            <a:off x="548640" y="1371600"/>
            <a:ext cx="1828800" cy="914400"/>
          </a:xfrm>
          <a:prstGeom prst="rect">
            <a:avLst/>
          </a:prstGeom>
          <a:noFill/>
          <a:ln/>
        </p:spPr>
        <p:txBody>
          <a:bodyPr wrap="square" lIns="0" tIns="0" rIns="0" bIns="0" rtlCol="0" anchor="ctr"/>
          <a:lstStyle/>
          <a:p>
            <a:pPr indent="0" marL="0">
              <a:buNone/>
            </a:pPr>
            <a:r>
              <a:rPr lang="en-US" sz="6000" b="1" dirty="0">
                <a:solidFill>
                  <a:srgbClr val="FC7A1E"/>
                </a:solidFill>
                <a:latin typeface="Cambria" pitchFamily="34" charset="0"/>
                <a:ea typeface="Cambria" pitchFamily="34" charset="-122"/>
                <a:cs typeface="Cambria" pitchFamily="34" charset="-120"/>
              </a:rPr>
              <a:t>04</a:t>
            </a:r>
            <a:endParaRPr lang="en-US" sz="6000" dirty="0"/>
          </a:p>
        </p:txBody>
      </p:sp>
      <p:sp>
        <p:nvSpPr>
          <p:cNvPr id="4" name="Text 2"/>
          <p:cNvSpPr txBox="1"/>
          <p:nvPr/>
        </p:nvSpPr>
        <p:spPr>
          <a:xfrm>
            <a:off x="548640" y="2331720"/>
            <a:ext cx="7772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Build a Dashboard with Plotly Dash</a:t>
            </a:r>
            <a:endParaRPr lang="en-US" sz="3600" dirty="0"/>
          </a:p>
        </p:txBody>
      </p:sp>
      <p:sp>
        <p:nvSpPr>
          <p:cNvPr id="5" name="Text 3"/>
          <p:cNvSpPr txBox="1"/>
          <p:nvPr/>
        </p:nvSpPr>
        <p:spPr>
          <a:xfrm>
            <a:off x="548640" y="3063240"/>
            <a:ext cx="7772400" cy="457200"/>
          </a:xfrm>
          <a:prstGeom prst="rect">
            <a:avLst/>
          </a:prstGeom>
          <a:noFill/>
          <a:ln/>
        </p:spPr>
        <p:txBody>
          <a:bodyPr wrap="square" lIns="0" tIns="0" rIns="0" bIns="0" rtlCol="0" anchor="ctr"/>
          <a:lstStyle/>
          <a:p>
            <a:pPr indent="0" marL="0">
              <a:buNone/>
            </a:pPr>
            <a:r>
              <a:rPr lang="en-US" sz="1600" dirty="0">
                <a:solidFill>
                  <a:srgbClr val="C9D3E6"/>
                </a:solidFill>
                <a:latin typeface="Calibri" pitchFamily="34" charset="0"/>
                <a:ea typeface="Calibri" pitchFamily="34" charset="-122"/>
                <a:cs typeface="Calibri" pitchFamily="34" charset="-120"/>
              </a:rPr>
              <a:t>Interactive launch-records dashboard (spacex_dash_app.py)</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39</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Dashboard Overview</a:t>
            </a:r>
            <a:endParaRPr lang="en-US" sz="2600" dirty="0"/>
          </a:p>
        </p:txBody>
      </p:sp>
      <p:pic>
        <p:nvPicPr>
          <p:cNvPr id="4" name="Image 0" descr="out/fig/dash_full.png">    </p:cNvPr>
          <p:cNvPicPr>
            <a:picLocks noChangeAspect="1"/>
          </p:cNvPicPr>
          <p:nvPr/>
        </p:nvPicPr>
        <p:blipFill>
          <a:blip r:embed="rId1"/>
          <a:stretch>
            <a:fillRect/>
          </a:stretch>
        </p:blipFill>
        <p:spPr>
          <a:xfrm>
            <a:off x="457200" y="914400"/>
            <a:ext cx="3840480" cy="3540443"/>
          </a:xfrm>
          <a:prstGeom prst="rect">
            <a:avLst/>
          </a:prstGeom>
        </p:spPr>
      </p:pic>
      <p:sp>
        <p:nvSpPr>
          <p:cNvPr id="5" name="Text 2"/>
          <p:cNvSpPr txBox="1"/>
          <p:nvPr/>
        </p:nvSpPr>
        <p:spPr>
          <a:xfrm>
            <a:off x="4572000" y="1005840"/>
            <a:ext cx="4114800" cy="3566160"/>
          </a:xfrm>
          <a:prstGeom prst="rect">
            <a:avLst/>
          </a:prstGeom>
          <a:noFill/>
          <a:ln/>
        </p:spPr>
        <p:txBody>
          <a:bodyPr wrap="square" lIns="0" tIns="0" rIns="0" bIns="0" rtlCol="0" anchor="t"/>
          <a:lstStyle/>
          <a:p>
            <a:pPr marL="342900" indent="-342900">
              <a:spcAft>
                <a:spcPts val="800"/>
              </a:spcAft>
              <a:buSzPct val="100000"/>
              <a:buChar char="•"/>
            </a:pPr>
            <a:r>
              <a:rPr lang="en-US" sz="1250" b="1" dirty="0">
                <a:solidFill>
                  <a:srgbClr val="14213D"/>
                </a:solidFill>
                <a:latin typeface="Calibri" pitchFamily="34" charset="0"/>
                <a:ea typeface="Calibri" pitchFamily="34" charset="-122"/>
                <a:cs typeface="Calibri" pitchFamily="34" charset="-120"/>
              </a:rPr>
              <a:t>Dropdown (site-dropdown): </a:t>
            </a:r>
            <a:pPr indent="0" marL="0">
              <a:spcAft>
                <a:spcPts val="800"/>
              </a:spcAft>
              <a:buNone/>
            </a:pPr>
            <a:r>
              <a:rPr lang="en-US" sz="1250" dirty="0">
                <a:solidFill>
                  <a:srgbClr val="1F2937"/>
                </a:solidFill>
                <a:latin typeface="Calibri" pitchFamily="34" charset="0"/>
                <a:ea typeface="Calibri" pitchFamily="34" charset="-122"/>
                <a:cs typeface="Calibri" pitchFamily="34" charset="-120"/>
              </a:rPr>
              <a:t>All Sites or one of the four launch sites.</a:t>
            </a:r>
            <a:endParaRPr lang="en-US" sz="1250" dirty="0"/>
          </a:p>
          <a:p>
            <a:pPr marL="342900" indent="-342900">
              <a:spcAft>
                <a:spcPts val="800"/>
              </a:spcAft>
              <a:buSzPct val="100000"/>
              <a:buChar char="•"/>
            </a:pPr>
            <a:r>
              <a:rPr lang="en-US" sz="1250" b="1" dirty="0">
                <a:solidFill>
                  <a:srgbClr val="14213D"/>
                </a:solidFill>
                <a:latin typeface="Calibri" pitchFamily="34" charset="0"/>
                <a:ea typeface="Calibri" pitchFamily="34" charset="-122"/>
                <a:cs typeface="Calibri" pitchFamily="34" charset="-120"/>
              </a:rPr>
              <a:t>Pie chart (success-pie-chart): </a:t>
            </a:r>
            <a:pPr indent="0" marL="0">
              <a:spcAft>
                <a:spcPts val="800"/>
              </a:spcAft>
              <a:buNone/>
            </a:pPr>
            <a:r>
              <a:rPr lang="en-US" sz="1250" dirty="0">
                <a:solidFill>
                  <a:srgbClr val="1F2937"/>
                </a:solidFill>
                <a:latin typeface="Calibri" pitchFamily="34" charset="0"/>
                <a:ea typeface="Calibri" pitchFamily="34" charset="-122"/>
                <a:cs typeface="Calibri" pitchFamily="34" charset="-120"/>
              </a:rPr>
              <a:t>all sites → share of successes per site; one site → success vs. failure.</a:t>
            </a:r>
            <a:endParaRPr lang="en-US" sz="1250" dirty="0"/>
          </a:p>
          <a:p>
            <a:pPr marL="342900" indent="-342900">
              <a:spcAft>
                <a:spcPts val="800"/>
              </a:spcAft>
              <a:buSzPct val="100000"/>
              <a:buChar char="•"/>
            </a:pPr>
            <a:r>
              <a:rPr lang="en-US" sz="1250" b="1" dirty="0">
                <a:solidFill>
                  <a:srgbClr val="14213D"/>
                </a:solidFill>
                <a:latin typeface="Calibri" pitchFamily="34" charset="0"/>
                <a:ea typeface="Calibri" pitchFamily="34" charset="-122"/>
                <a:cs typeface="Calibri" pitchFamily="34" charset="-120"/>
              </a:rPr>
              <a:t>Range slider (payload-slider): </a:t>
            </a:r>
            <a:pPr indent="0" marL="0">
              <a:spcAft>
                <a:spcPts val="800"/>
              </a:spcAft>
              <a:buNone/>
            </a:pPr>
            <a:r>
              <a:rPr lang="en-US" sz="1250" dirty="0">
                <a:solidFill>
                  <a:srgbClr val="1F2937"/>
                </a:solidFill>
                <a:latin typeface="Calibri" pitchFamily="34" charset="0"/>
                <a:ea typeface="Calibri" pitchFamily="34" charset="-122"/>
                <a:cs typeface="Calibri" pitchFamily="34" charset="-120"/>
              </a:rPr>
              <a:t>filters payload from 0 to 10,000 kg in 1,000 kg steps.</a:t>
            </a:r>
            <a:endParaRPr lang="en-US" sz="1250" dirty="0"/>
          </a:p>
          <a:p>
            <a:pPr marL="342900" indent="-342900">
              <a:spcAft>
                <a:spcPts val="800"/>
              </a:spcAft>
              <a:buSzPct val="100000"/>
              <a:buChar char="•"/>
            </a:pPr>
            <a:r>
              <a:rPr lang="en-US" sz="1250" b="1" dirty="0">
                <a:solidFill>
                  <a:srgbClr val="14213D"/>
                </a:solidFill>
                <a:latin typeface="Calibri" pitchFamily="34" charset="0"/>
                <a:ea typeface="Calibri" pitchFamily="34" charset="-122"/>
                <a:cs typeface="Calibri" pitchFamily="34" charset="-120"/>
              </a:rPr>
              <a:t>Scatter (success-payload-scatter-chart): </a:t>
            </a:r>
            <a:pPr indent="0" marL="0">
              <a:spcAft>
                <a:spcPts val="800"/>
              </a:spcAft>
              <a:buNone/>
            </a:pPr>
            <a:r>
              <a:rPr lang="en-US" sz="1250" dirty="0">
                <a:solidFill>
                  <a:srgbClr val="1F2937"/>
                </a:solidFill>
                <a:latin typeface="Calibri" pitchFamily="34" charset="0"/>
                <a:ea typeface="Calibri" pitchFamily="34" charset="-122"/>
                <a:cs typeface="Calibri" pitchFamily="34" charset="-120"/>
              </a:rPr>
              <a:t>payload vs. class, coloured by booster version; reacts to both the dropdown and the slider (two Inputs in one callback).</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40</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Dashboard — Successful Launches by Site</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Dropdown = All Sites</a:t>
            </a:r>
            <a:endParaRPr lang="en-US" sz="1300" dirty="0"/>
          </a:p>
        </p:txBody>
      </p:sp>
      <p:pic>
        <p:nvPicPr>
          <p:cNvPr id="5" name="Image 0" descr="out/fig/dash_pie_all_real.png">    </p:cNvPr>
          <p:cNvPicPr>
            <a:picLocks noChangeAspect="1"/>
          </p:cNvPicPr>
          <p:nvPr/>
        </p:nvPicPr>
        <p:blipFill>
          <a:blip r:embed="rId1"/>
          <a:stretch>
            <a:fillRect/>
          </a:stretch>
        </p:blipFill>
        <p:spPr>
          <a:xfrm>
            <a:off x="457200" y="1188720"/>
            <a:ext cx="5029200" cy="2752633"/>
          </a:xfrm>
          <a:prstGeom prst="rect">
            <a:avLst/>
          </a:prstGeom>
        </p:spPr>
      </p:pic>
      <p:sp>
        <p:nvSpPr>
          <p:cNvPr id="6" name="Shape 3"/>
          <p:cNvSpPr/>
          <p:nvPr/>
        </p:nvSpPr>
        <p:spPr>
          <a:xfrm>
            <a:off x="5669280" y="1234440"/>
            <a:ext cx="3017520" cy="3154680"/>
          </a:xfrm>
          <a:prstGeom prst="roundRect">
            <a:avLst>
              <a:gd name="adj" fmla="val 2424"/>
            </a:avLst>
          </a:prstGeom>
          <a:solidFill>
            <a:srgbClr val="F1F4F9"/>
          </a:solidFill>
          <a:ln w="12700">
            <a:solidFill>
              <a:srgbClr val="F1F4F9"/>
            </a:solidFill>
            <a:prstDash val="solid"/>
          </a:ln>
        </p:spPr>
      </p:sp>
      <p:sp>
        <p:nvSpPr>
          <p:cNvPr id="7" name="Text 4"/>
          <p:cNvSpPr txBox="1"/>
          <p:nvPr/>
        </p:nvSpPr>
        <p:spPr>
          <a:xfrm>
            <a:off x="5852160" y="1371600"/>
            <a:ext cx="2651760" cy="28803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FINDINGS</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KSC LC-39A has the largest share of successful launches (41.7%), then CCAFS LC-40 (29.2%), VAFB SLC-4E (16.7%) and CCAFS SLC-40 (12.5%). Shares partly reflect how many missions each site flew.</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41</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Dashboard — Site with the Highest Success Rate</a:t>
            </a:r>
            <a:endParaRPr lang="en-US" sz="20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Dropdown = KSC LC-39A</a:t>
            </a:r>
            <a:endParaRPr lang="en-US" sz="1300" dirty="0"/>
          </a:p>
        </p:txBody>
      </p:sp>
      <p:pic>
        <p:nvPicPr>
          <p:cNvPr id="5" name="Image 0" descr="out/fig/dash_pie_ksc_real.png">    </p:cNvPr>
          <p:cNvPicPr>
            <a:picLocks noChangeAspect="1"/>
          </p:cNvPicPr>
          <p:nvPr/>
        </p:nvPicPr>
        <p:blipFill>
          <a:blip r:embed="rId1"/>
          <a:stretch>
            <a:fillRect/>
          </a:stretch>
        </p:blipFill>
        <p:spPr>
          <a:xfrm>
            <a:off x="457200" y="1188720"/>
            <a:ext cx="5029200" cy="2752633"/>
          </a:xfrm>
          <a:prstGeom prst="rect">
            <a:avLst/>
          </a:prstGeom>
        </p:spPr>
      </p:pic>
      <p:sp>
        <p:nvSpPr>
          <p:cNvPr id="6" name="Shape 3"/>
          <p:cNvSpPr/>
          <p:nvPr/>
        </p:nvSpPr>
        <p:spPr>
          <a:xfrm>
            <a:off x="5669280" y="1234440"/>
            <a:ext cx="3017520" cy="3154680"/>
          </a:xfrm>
          <a:prstGeom prst="roundRect">
            <a:avLst>
              <a:gd name="adj" fmla="val 2424"/>
            </a:avLst>
          </a:prstGeom>
          <a:solidFill>
            <a:srgbClr val="F1F4F9"/>
          </a:solidFill>
          <a:ln w="12700">
            <a:solidFill>
              <a:srgbClr val="F1F4F9"/>
            </a:solidFill>
            <a:prstDash val="solid"/>
          </a:ln>
        </p:spPr>
      </p:sp>
      <p:sp>
        <p:nvSpPr>
          <p:cNvPr id="7" name="Text 4"/>
          <p:cNvSpPr txBox="1"/>
          <p:nvPr/>
        </p:nvSpPr>
        <p:spPr>
          <a:xfrm>
            <a:off x="5852160" y="1371600"/>
            <a:ext cx="2651760" cy="28803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FINDINGS</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KSC LC-39A landed 10 of 13 first stages: a 76.9% success rate, the best of any site (CCAFS LC-40 27%, CCAFS SLC-40 43%, VAFB SLC-4E 40%).</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42</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Dashboard — Payload vs. Launch Outcome</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Same scatter, two slider settings (all sites)</a:t>
            </a:r>
            <a:endParaRPr lang="en-US" sz="1300" dirty="0"/>
          </a:p>
        </p:txBody>
      </p:sp>
      <p:pic>
        <p:nvPicPr>
          <p:cNvPr id="5" name="Image 0" descr="out/fig/dash_scatter_range_real.png">    </p:cNvPr>
          <p:cNvPicPr>
            <a:picLocks noChangeAspect="1"/>
          </p:cNvPicPr>
          <p:nvPr/>
        </p:nvPicPr>
        <p:blipFill>
          <a:blip r:embed="rId1"/>
          <a:stretch>
            <a:fillRect/>
          </a:stretch>
        </p:blipFill>
        <p:spPr>
          <a:xfrm>
            <a:off x="365760" y="1097280"/>
            <a:ext cx="4114800" cy="2252154"/>
          </a:xfrm>
          <a:prstGeom prst="rect">
            <a:avLst/>
          </a:prstGeom>
        </p:spPr>
      </p:pic>
      <p:pic>
        <p:nvPicPr>
          <p:cNvPr id="6" name="Image 1" descr="out/fig/dash_scatter_heavy_real.png">    </p:cNvPr>
          <p:cNvPicPr>
            <a:picLocks noChangeAspect="1"/>
          </p:cNvPicPr>
          <p:nvPr/>
        </p:nvPicPr>
        <p:blipFill>
          <a:blip r:embed="rId2"/>
          <a:stretch>
            <a:fillRect/>
          </a:stretch>
        </p:blipFill>
        <p:spPr>
          <a:xfrm>
            <a:off x="4617720" y="1097280"/>
            <a:ext cx="4114800" cy="2252154"/>
          </a:xfrm>
          <a:prstGeom prst="rect">
            <a:avLst/>
          </a:prstGeom>
        </p:spPr>
      </p:pic>
      <p:sp>
        <p:nvSpPr>
          <p:cNvPr id="7" name="Text 3"/>
          <p:cNvSpPr txBox="1"/>
          <p:nvPr/>
        </p:nvSpPr>
        <p:spPr>
          <a:xfrm>
            <a:off x="365760" y="3364992"/>
            <a:ext cx="4114800" cy="274320"/>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Slider 2,000–5,000 kg: 16 of 29 landed (55%)</a:t>
            </a:r>
            <a:endParaRPr lang="en-US" sz="1100" dirty="0"/>
          </a:p>
        </p:txBody>
      </p:sp>
      <p:sp>
        <p:nvSpPr>
          <p:cNvPr id="8" name="Text 4"/>
          <p:cNvSpPr txBox="1"/>
          <p:nvPr/>
        </p:nvSpPr>
        <p:spPr>
          <a:xfrm>
            <a:off x="4617720" y="3364992"/>
            <a:ext cx="4114800" cy="27432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Slider 5,000–10,000 kg: 5 of 14 landed (36%)</a:t>
            </a:r>
            <a:endParaRPr lang="en-US" sz="1100" dirty="0"/>
          </a:p>
        </p:txBody>
      </p:sp>
      <p:sp>
        <p:nvSpPr>
          <p:cNvPr id="9" name="Shape 5"/>
          <p:cNvSpPr/>
          <p:nvPr/>
        </p:nvSpPr>
        <p:spPr>
          <a:xfrm>
            <a:off x="365760" y="3703320"/>
            <a:ext cx="8321040" cy="1005840"/>
          </a:xfrm>
          <a:prstGeom prst="roundRect">
            <a:avLst>
              <a:gd name="adj" fmla="val 7273"/>
            </a:avLst>
          </a:prstGeom>
          <a:solidFill>
            <a:srgbClr val="F1F4F9"/>
          </a:solidFill>
          <a:ln w="12700">
            <a:solidFill>
              <a:srgbClr val="F1F4F9"/>
            </a:solidFill>
            <a:prstDash val="solid"/>
          </a:ln>
        </p:spPr>
      </p:sp>
      <p:sp>
        <p:nvSpPr>
          <p:cNvPr id="10" name="Text 6"/>
          <p:cNvSpPr txBox="1"/>
          <p:nvPr/>
        </p:nvSpPr>
        <p:spPr>
          <a:xfrm>
            <a:off x="548640" y="3776472"/>
            <a:ext cx="7955280" cy="868680"/>
          </a:xfrm>
          <a:prstGeom prst="rect">
            <a:avLst/>
          </a:prstGeom>
          <a:noFill/>
          <a:ln/>
        </p:spPr>
        <p:txBody>
          <a:bodyPr wrap="square" lIns="0" tIns="0" rIns="0" bIns="0" rtlCol="0" anchor="t"/>
          <a:lstStyle/>
          <a:p>
            <a:pPr marL="342900" indent="-342900">
              <a:spcAft>
                <a:spcPts val="400"/>
              </a:spcAft>
              <a:buSzPct val="100000"/>
              <a:buChar char="•"/>
            </a:pPr>
            <a:r>
              <a:rPr lang="en-US" sz="1150" b="1" dirty="0">
                <a:solidFill>
                  <a:srgbClr val="14213D"/>
                </a:solidFill>
                <a:latin typeface="Calibri" pitchFamily="34" charset="0"/>
                <a:ea typeface="Calibri" pitchFamily="34" charset="-122"/>
                <a:cs typeface="Calibri" pitchFamily="34" charset="-120"/>
              </a:rPr>
              <a:t>Payload sweet spot: </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2,000–5,000 kg has the most successes and the highest rate; below 2,000 kg only 23% landed (mostly early v1.0/v1.1 flights).</a:t>
            </a:r>
            <a:endParaRPr lang="en-US" sz="1150" dirty="0"/>
          </a:p>
          <a:p>
            <a:pPr marL="342900" indent="-342900">
              <a:spcAft>
                <a:spcPts val="400"/>
              </a:spcAft>
              <a:buSzPct val="100000"/>
              <a:buChar char="•"/>
            </a:pPr>
            <a:r>
              <a:rPr lang="en-US" sz="1150" b="1" dirty="0">
                <a:solidFill>
                  <a:srgbClr val="14213D"/>
                </a:solidFill>
                <a:latin typeface="Calibri" pitchFamily="34" charset="0"/>
                <a:ea typeface="Calibri" pitchFamily="34" charset="-122"/>
                <a:cs typeface="Calibri" pitchFamily="34" charset="-120"/>
              </a:rPr>
              <a:t>Booster matters most: </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FT boosters landed 16 of 24 (67%), B4 6 of 11; v1.1 landed only 1 of 15 and v1.0 none.</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9D3E6"/>
                </a:solidFill>
                <a:latin typeface="Calibri" pitchFamily="34" charset="0"/>
                <a:ea typeface="Calibri" pitchFamily="34" charset="-122"/>
                <a:cs typeface="Calibri" pitchFamily="34" charset="-120"/>
              </a:rPr>
              <a:t>43</a:t>
            </a:r>
            <a:endParaRPr lang="en-US" sz="900" dirty="0"/>
          </a:p>
        </p:txBody>
      </p:sp>
      <p:sp>
        <p:nvSpPr>
          <p:cNvPr id="3" name="Text 1"/>
          <p:cNvSpPr txBox="1"/>
          <p:nvPr/>
        </p:nvSpPr>
        <p:spPr>
          <a:xfrm>
            <a:off x="548640" y="1371600"/>
            <a:ext cx="1828800" cy="914400"/>
          </a:xfrm>
          <a:prstGeom prst="rect">
            <a:avLst/>
          </a:prstGeom>
          <a:noFill/>
          <a:ln/>
        </p:spPr>
        <p:txBody>
          <a:bodyPr wrap="square" lIns="0" tIns="0" rIns="0" bIns="0" rtlCol="0" anchor="ctr"/>
          <a:lstStyle/>
          <a:p>
            <a:pPr indent="0" marL="0">
              <a:buNone/>
            </a:pPr>
            <a:r>
              <a:rPr lang="en-US" sz="6000" b="1" dirty="0">
                <a:solidFill>
                  <a:srgbClr val="FC7A1E"/>
                </a:solidFill>
                <a:latin typeface="Cambria" pitchFamily="34" charset="0"/>
                <a:ea typeface="Cambria" pitchFamily="34" charset="-122"/>
                <a:cs typeface="Cambria" pitchFamily="34" charset="-120"/>
              </a:rPr>
              <a:t>05</a:t>
            </a:r>
            <a:endParaRPr lang="en-US" sz="6000" dirty="0"/>
          </a:p>
        </p:txBody>
      </p:sp>
      <p:sp>
        <p:nvSpPr>
          <p:cNvPr id="4" name="Text 2"/>
          <p:cNvSpPr txBox="1"/>
          <p:nvPr/>
        </p:nvSpPr>
        <p:spPr>
          <a:xfrm>
            <a:off x="548640" y="2331720"/>
            <a:ext cx="7772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Predictive Analysis (Classification)</a:t>
            </a:r>
            <a:endParaRPr lang="en-US" sz="3600" dirty="0"/>
          </a:p>
        </p:txBody>
      </p:sp>
      <p:sp>
        <p:nvSpPr>
          <p:cNvPr id="5" name="Text 3"/>
          <p:cNvSpPr txBox="1"/>
          <p:nvPr/>
        </p:nvSpPr>
        <p:spPr>
          <a:xfrm>
            <a:off x="548640" y="3063240"/>
            <a:ext cx="7772400" cy="457200"/>
          </a:xfrm>
          <a:prstGeom prst="rect">
            <a:avLst/>
          </a:prstGeom>
          <a:noFill/>
          <a:ln/>
        </p:spPr>
        <p:txBody>
          <a:bodyPr wrap="square" lIns="0" tIns="0" rIns="0" bIns="0" rtlCol="0" anchor="ctr"/>
          <a:lstStyle/>
          <a:p>
            <a:pPr indent="0" marL="0">
              <a:buNone/>
            </a:pPr>
            <a:r>
              <a:rPr lang="en-US" sz="1600" dirty="0">
                <a:solidFill>
                  <a:srgbClr val="C9D3E6"/>
                </a:solidFill>
                <a:latin typeface="Calibri" pitchFamily="34" charset="0"/>
                <a:ea typeface="Calibri" pitchFamily="34" charset="-122"/>
                <a:cs typeface="Calibri" pitchFamily="34" charset="-120"/>
              </a:rPr>
              <a:t>Classification results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44</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Classification Accuracy</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Bar chart of accuracy for all models. GridSearchCV (cv=10) on 72 training launches, scored on 18 test launches</a:t>
            </a:r>
            <a:endParaRPr lang="en-US" sz="1300" dirty="0"/>
          </a:p>
        </p:txBody>
      </p:sp>
      <p:graphicFrame>
        <p:nvGraphicFramePr>
          <p:cNvPr id="5" name="Chart 0" descr=""/>
          <p:cNvGraphicFramePr/>
          <p:nvPr/>
        </p:nvGraphicFramePr>
        <p:xfrm>
          <a:off x="365760" y="1188720"/>
          <a:ext cx="420624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754880" y="1234440"/>
          <a:ext cx="3931920" cy="914400"/>
        </p:xfrm>
        <a:graphic>
          <a:graphicData uri="http://schemas.openxmlformats.org/drawingml/2006/table">
            <a:tbl>
              <a:tblPr/>
              <a:tblGrid>
                <a:gridCol w="1188720"/>
                <a:gridCol w="548640"/>
                <a:gridCol w="548640"/>
                <a:gridCol w="548640"/>
                <a:gridCol w="548640"/>
                <a:gridCol w="548640"/>
              </a:tblGrid>
              <a:tr h="31089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CV</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Prec.</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310896">
                <a:tc>
                  <a:txBody>
                    <a:bodyPr/>
                    <a:lstStyle/>
                    <a:p>
                      <a:pPr indent="0" marL="0">
                        <a:buNone/>
                      </a:pPr>
                      <a:r>
                        <a:rPr lang="en-US" sz="950" b="1" dirty="0">
                          <a:solidFill>
                            <a:srgbClr val="14213D"/>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84.6%</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83.3%</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88.9%</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10896">
                <a:tc>
                  <a:txBody>
                    <a:bodyPr/>
                    <a:lstStyle/>
                    <a:p>
                      <a:pPr indent="0" marL="0">
                        <a:buNone/>
                      </a:pPr>
                      <a:r>
                        <a:rPr lang="en-US" sz="950" b="1" dirty="0">
                          <a:solidFill>
                            <a:srgbClr val="14213D"/>
                          </a:solidFill>
                          <a:latin typeface="Calibri" pitchFamily="34" charset="0"/>
                          <a:ea typeface="Calibri" pitchFamily="34" charset="-122"/>
                          <a:cs typeface="Calibri" pitchFamily="34" charset="-120"/>
                        </a:rPr>
                        <a:t>SVM</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84.8%</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83.3%</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88.9%</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10896">
                <a:tc>
                  <a:txBody>
                    <a:bodyPr/>
                    <a:lstStyle/>
                    <a:p>
                      <a:pPr indent="0" marL="0">
                        <a:buNone/>
                      </a:pPr>
                      <a:r>
                        <a:rPr lang="en-US" sz="950" b="1" dirty="0">
                          <a:solidFill>
                            <a:srgbClr val="14213D"/>
                          </a:solidFill>
                          <a:latin typeface="Calibri" pitchFamily="34" charset="0"/>
                          <a:ea typeface="Calibri" pitchFamily="34" charset="-122"/>
                          <a:cs typeface="Calibri" pitchFamily="34" charset="-120"/>
                        </a:rPr>
                        <a:t>Decision Tree</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84.8%</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83.3%</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88.9%</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10896">
                <a:tc>
                  <a:txBody>
                    <a:bodyPr/>
                    <a:lstStyle/>
                    <a:p>
                      <a:pPr indent="0" marL="0">
                        <a:buNone/>
                      </a:pPr>
                      <a:r>
                        <a:rPr lang="en-US" sz="950" b="1" dirty="0">
                          <a:solidFill>
                            <a:srgbClr val="14213D"/>
                          </a:solidFill>
                          <a:latin typeface="Calibri" pitchFamily="34" charset="0"/>
                          <a:ea typeface="Calibri" pitchFamily="34" charset="-122"/>
                          <a:cs typeface="Calibri" pitchFamily="34" charset="-120"/>
                        </a:rPr>
                        <a:t>KNN</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84.8%</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83.3%</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88.9%</a:t>
                      </a:r>
                      <a:endParaRPr lang="en-US" sz="95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hape 3"/>
          <p:cNvSpPr/>
          <p:nvPr/>
        </p:nvSpPr>
        <p:spPr>
          <a:xfrm>
            <a:off x="4754880" y="2971800"/>
            <a:ext cx="3931920" cy="1691640"/>
          </a:xfrm>
          <a:prstGeom prst="roundRect">
            <a:avLst>
              <a:gd name="adj" fmla="val 4324"/>
            </a:avLst>
          </a:prstGeom>
          <a:solidFill>
            <a:srgbClr val="F1F4F9"/>
          </a:solidFill>
          <a:ln w="12700">
            <a:solidFill>
              <a:srgbClr val="F1F4F9"/>
            </a:solidFill>
            <a:prstDash val="solid"/>
          </a:ln>
        </p:spPr>
      </p:sp>
      <p:sp>
        <p:nvSpPr>
          <p:cNvPr id="8" name="Text 4"/>
          <p:cNvSpPr txBox="1"/>
          <p:nvPr/>
        </p:nvSpPr>
        <p:spPr>
          <a:xfrm>
            <a:off x="4937760" y="3108960"/>
            <a:ext cx="3566160" cy="141732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FINDINGS</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On this split every model gets 15 of 18 right (83.3%), with 100% recall and 80% precision. SVM, decision tree and KNN share the top CV score (84.8%), so one split cannot separate them; see the robustness check on the next slides. Y-axis starts at 70%.</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45</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Confusion Matrix</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Test set (18 launches) for all four tuned models</a:t>
            </a:r>
            <a:endParaRPr lang="en-US" sz="1300" dirty="0"/>
          </a:p>
        </p:txBody>
      </p:sp>
      <p:pic>
        <p:nvPicPr>
          <p:cNvPr id="5" name="Image 0" descr="out/fig/cm_all.png">    </p:cNvPr>
          <p:cNvPicPr>
            <a:picLocks noChangeAspect="1"/>
          </p:cNvPicPr>
          <p:nvPr/>
        </p:nvPicPr>
        <p:blipFill>
          <a:blip r:embed="rId1"/>
          <a:stretch>
            <a:fillRect/>
          </a:stretch>
        </p:blipFill>
        <p:spPr>
          <a:xfrm>
            <a:off x="365760" y="1051560"/>
            <a:ext cx="8321040" cy="2041652"/>
          </a:xfrm>
          <a:prstGeom prst="rect">
            <a:avLst/>
          </a:prstGeom>
        </p:spPr>
      </p:pic>
      <p:sp>
        <p:nvSpPr>
          <p:cNvPr id="6" name="Shape 3"/>
          <p:cNvSpPr/>
          <p:nvPr/>
        </p:nvSpPr>
        <p:spPr>
          <a:xfrm>
            <a:off x="365760" y="3291840"/>
            <a:ext cx="8321040" cy="1325880"/>
          </a:xfrm>
          <a:prstGeom prst="roundRect">
            <a:avLst>
              <a:gd name="adj" fmla="val 5517"/>
            </a:avLst>
          </a:prstGeom>
          <a:solidFill>
            <a:srgbClr val="F1F4F9"/>
          </a:solidFill>
          <a:ln w="12700">
            <a:solidFill>
              <a:srgbClr val="F1F4F9"/>
            </a:solidFill>
            <a:prstDash val="solid"/>
          </a:ln>
        </p:spPr>
      </p:sp>
      <p:sp>
        <p:nvSpPr>
          <p:cNvPr id="7" name="Text 4"/>
          <p:cNvSpPr txBox="1"/>
          <p:nvPr/>
        </p:nvSpPr>
        <p:spPr>
          <a:xfrm>
            <a:off x="548640" y="3429000"/>
            <a:ext cx="7955280" cy="10515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FINDINGS</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All four models produce the same matrix: 12 true positives, 3 true negatives, 3 false positives and 0 false negatives. Every landing was caught, but 3 of the 6 failed landings were predicted to land, so the models are over-optimistic about failures.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46</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Which Model Is Best? — Robustness Check</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50 different train/test splits (5-fold × 10 repeats) using each model's tuned hyperparameters</a:t>
            </a:r>
            <a:endParaRPr lang="en-US" sz="1300" dirty="0"/>
          </a:p>
        </p:txBody>
      </p:sp>
      <p:graphicFrame>
        <p:nvGraphicFramePr>
          <p:cNvPr id="5" name="Chart 0" descr=""/>
          <p:cNvGraphicFramePr/>
          <p:nvPr/>
        </p:nvGraphicFramePr>
        <p:xfrm>
          <a:off x="365760" y="118872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394960" y="1234440"/>
            <a:ext cx="3291840" cy="3383280"/>
          </a:xfrm>
          <a:prstGeom prst="roundRect">
            <a:avLst>
              <a:gd name="adj" fmla="val 2222"/>
            </a:avLst>
          </a:prstGeom>
          <a:solidFill>
            <a:srgbClr val="F1F4F9"/>
          </a:solidFill>
          <a:ln w="12700">
            <a:solidFill>
              <a:srgbClr val="F1F4F9"/>
            </a:solidFill>
            <a:prstDash val="solid"/>
          </a:ln>
        </p:spPr>
      </p:sp>
      <p:sp>
        <p:nvSpPr>
          <p:cNvPr id="7" name="Text 4"/>
          <p:cNvSpPr txBox="1"/>
          <p:nvPr/>
        </p:nvSpPr>
        <p:spPr>
          <a:xfrm>
            <a:off x="5577840" y="1371600"/>
            <a:ext cx="2926080" cy="3108960"/>
          </a:xfrm>
          <a:prstGeom prst="rect">
            <a:avLst/>
          </a:prstGeom>
          <a:noFill/>
          <a:ln/>
        </p:spPr>
        <p:txBody>
          <a:bodyPr wrap="square" lIns="0" tIns="0" rIns="0" bIns="0" rtlCol="0" anchor="t"/>
          <a:lstStyle/>
          <a:p>
            <a:pPr indent="0" marL="0">
              <a:spcAft>
                <a:spcPts val="400"/>
              </a:spcAft>
              <a:buNone/>
            </a:pPr>
            <a:r>
              <a:rPr lang="en-US" sz="1200" b="1" dirty="0">
                <a:solidFill>
                  <a:srgbClr val="FC7A1E"/>
                </a:solidFill>
                <a:latin typeface="Calibri" pitchFamily="34" charset="0"/>
                <a:ea typeface="Calibri" pitchFamily="34" charset="-122"/>
                <a:cs typeface="Calibri" pitchFamily="34" charset="-120"/>
              </a:rPr>
              <a:t>BEST MODEL: SVM</a:t>
            </a:r>
            <a:endParaRPr lang="en-US" sz="1200" dirty="0"/>
          </a:p>
          <a:p>
            <a:pPr indent="0" marL="0">
              <a:spcAft>
                <a:spcPts val="400"/>
              </a:spcAft>
              <a:buNone/>
            </a:pPr>
            <a:r>
              <a:rPr lang="en-US" sz="1300" dirty="0">
                <a:solidFill>
                  <a:srgbClr val="1F2937"/>
                </a:solidFill>
                <a:latin typeface="Calibri" pitchFamily="34" charset="0"/>
                <a:ea typeface="Calibri" pitchFamily="34" charset="-122"/>
                <a:cs typeface="Calibri" pitchFamily="34" charset="-120"/>
              </a:rPr>
              <a:t>SVM (sigmoid kernel) is the most accurate and stable: 84.4% ± 8.0%, ahead of KNN (84.1%) and logistic regression (82.6%). The decision tree drops to 75.1%: its single-split tie was luck, and it overfits. All models clearly beat the 66.7% baseline.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9D3E6"/>
                </a:solidFill>
                <a:latin typeface="Calibri" pitchFamily="34" charset="0"/>
                <a:ea typeface="Calibri" pitchFamily="34" charset="-122"/>
                <a:cs typeface="Calibri" pitchFamily="34" charset="-120"/>
              </a:rPr>
              <a:t>47</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Conclusions</a:t>
            </a:r>
            <a:endParaRPr lang="en-US" sz="2800" dirty="0"/>
          </a:p>
        </p:txBody>
      </p:sp>
      <p:sp>
        <p:nvSpPr>
          <p:cNvPr id="4" name="Shape 2"/>
          <p:cNvSpPr/>
          <p:nvPr/>
        </p:nvSpPr>
        <p:spPr>
          <a:xfrm>
            <a:off x="457200" y="1097280"/>
            <a:ext cx="4023360" cy="1600200"/>
          </a:xfrm>
          <a:prstGeom prst="roundRect">
            <a:avLst>
              <a:gd name="adj" fmla="val 4571"/>
            </a:avLst>
          </a:prstGeom>
          <a:solidFill>
            <a:srgbClr val="1F2E52"/>
          </a:solidFill>
          <a:ln w="12700">
            <a:solidFill>
              <a:srgbClr val="1F2E52"/>
            </a:solidFill>
            <a:prstDash val="solid"/>
          </a:ln>
        </p:spPr>
      </p:sp>
      <p:sp>
        <p:nvSpPr>
          <p:cNvPr id="5" name="Shape 3"/>
          <p:cNvSpPr/>
          <p:nvPr/>
        </p:nvSpPr>
        <p:spPr>
          <a:xfrm>
            <a:off x="640080" y="1280160"/>
            <a:ext cx="384048" cy="384048"/>
          </a:xfrm>
          <a:prstGeom prst="ellipse">
            <a:avLst/>
          </a:prstGeom>
          <a:solidFill>
            <a:srgbClr val="FC7A1E"/>
          </a:solidFill>
          <a:ln w="12700">
            <a:solidFill>
              <a:srgbClr val="FC7A1E"/>
            </a:solidFill>
            <a:prstDash val="solid"/>
          </a:ln>
        </p:spPr>
      </p:sp>
      <p:sp>
        <p:nvSpPr>
          <p:cNvPr id="6" name="Text 4"/>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43000" y="1280160"/>
            <a:ext cx="3200400"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Experience pays off</a:t>
            </a:r>
            <a:endParaRPr lang="en-US" sz="1500" dirty="0"/>
          </a:p>
        </p:txBody>
      </p:sp>
      <p:sp>
        <p:nvSpPr>
          <p:cNvPr id="8" name="Text 6"/>
          <p:cNvSpPr txBox="1"/>
          <p:nvPr/>
        </p:nvSpPr>
        <p:spPr>
          <a:xfrm>
            <a:off x="640080" y="1783080"/>
            <a:ext cx="3657600" cy="822960"/>
          </a:xfrm>
          <a:prstGeom prst="rect">
            <a:avLst/>
          </a:prstGeom>
          <a:noFill/>
          <a:ln/>
        </p:spPr>
        <p:txBody>
          <a:bodyPr wrap="square" lIns="0" tIns="0" rIns="0" bIns="0" rtlCol="0" anchor="t"/>
          <a:lstStyle/>
          <a:p>
            <a:pPr indent="0" marL="0">
              <a:buNone/>
            </a:pPr>
            <a:r>
              <a:rPr lang="en-US" sz="1200" dirty="0">
                <a:solidFill>
                  <a:srgbClr val="C9D3E6"/>
                </a:solidFill>
                <a:latin typeface="Calibri" pitchFamily="34" charset="0"/>
                <a:ea typeface="Calibri" pitchFamily="34" charset="-122"/>
                <a:cs typeface="Calibri" pitchFamily="34" charset="-120"/>
              </a:rPr>
              <a:t>Landing success rose from 0% before 2014 to 90% in 2019; flight number is the strongest single signal.</a:t>
            </a:r>
            <a:endParaRPr lang="en-US" sz="1200" dirty="0"/>
          </a:p>
        </p:txBody>
      </p:sp>
      <p:sp>
        <p:nvSpPr>
          <p:cNvPr id="9" name="Shape 7"/>
          <p:cNvSpPr/>
          <p:nvPr/>
        </p:nvSpPr>
        <p:spPr>
          <a:xfrm>
            <a:off x="4663440" y="1097280"/>
            <a:ext cx="4023360" cy="1600200"/>
          </a:xfrm>
          <a:prstGeom prst="roundRect">
            <a:avLst>
              <a:gd name="adj" fmla="val 4571"/>
            </a:avLst>
          </a:prstGeom>
          <a:solidFill>
            <a:srgbClr val="1F2E52"/>
          </a:solidFill>
          <a:ln w="12700">
            <a:solidFill>
              <a:srgbClr val="1F2E52"/>
            </a:solidFill>
            <a:prstDash val="solid"/>
          </a:ln>
        </p:spPr>
      </p:sp>
      <p:sp>
        <p:nvSpPr>
          <p:cNvPr id="10" name="Shape 8"/>
          <p:cNvSpPr/>
          <p:nvPr/>
        </p:nvSpPr>
        <p:spPr>
          <a:xfrm>
            <a:off x="4846320" y="1280160"/>
            <a:ext cx="384048" cy="384048"/>
          </a:xfrm>
          <a:prstGeom prst="ellipse">
            <a:avLst/>
          </a:prstGeom>
          <a:solidFill>
            <a:srgbClr val="FC7A1E"/>
          </a:solidFill>
          <a:ln w="12700">
            <a:solidFill>
              <a:srgbClr val="FC7A1E"/>
            </a:solidFill>
            <a:prstDash val="solid"/>
          </a:ln>
        </p:spPr>
      </p:sp>
      <p:sp>
        <p:nvSpPr>
          <p:cNvPr id="11" name="Text 9"/>
          <p:cNvSpPr txBox="1"/>
          <p:nvPr/>
        </p:nvSpPr>
        <p:spPr>
          <a:xfrm>
            <a:off x="484632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49240" y="1280160"/>
            <a:ext cx="3200400"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Site and orbit matter</a:t>
            </a:r>
            <a:endParaRPr lang="en-US" sz="1500" dirty="0"/>
          </a:p>
        </p:txBody>
      </p:sp>
      <p:sp>
        <p:nvSpPr>
          <p:cNvPr id="13" name="Text 11"/>
          <p:cNvSpPr txBox="1"/>
          <p:nvPr/>
        </p:nvSpPr>
        <p:spPr>
          <a:xfrm>
            <a:off x="4846320" y="1783080"/>
            <a:ext cx="3657600" cy="822960"/>
          </a:xfrm>
          <a:prstGeom prst="rect">
            <a:avLst/>
          </a:prstGeom>
          <a:noFill/>
          <a:ln/>
        </p:spPr>
        <p:txBody>
          <a:bodyPr wrap="square" lIns="0" tIns="0" rIns="0" bIns="0" rtlCol="0" anchor="t"/>
          <a:lstStyle/>
          <a:p>
            <a:pPr indent="0" marL="0">
              <a:buNone/>
            </a:pPr>
            <a:r>
              <a:rPr lang="en-US" sz="1200" dirty="0">
                <a:solidFill>
                  <a:srgbClr val="C9D3E6"/>
                </a:solidFill>
                <a:latin typeface="Calibri" pitchFamily="34" charset="0"/>
                <a:ea typeface="Calibri" pitchFamily="34" charset="-122"/>
                <a:cs typeface="Calibri" pitchFamily="34" charset="-120"/>
              </a:rPr>
              <a:t>KSC LC-39A has the best record (76.9%). GTO is the hardest orbit (52%); SSO, GEO, HEO and ES-L1 landed every time.</a:t>
            </a:r>
            <a:endParaRPr lang="en-US" sz="1200" dirty="0"/>
          </a:p>
        </p:txBody>
      </p:sp>
      <p:sp>
        <p:nvSpPr>
          <p:cNvPr id="14" name="Shape 12"/>
          <p:cNvSpPr/>
          <p:nvPr/>
        </p:nvSpPr>
        <p:spPr>
          <a:xfrm>
            <a:off x="457200" y="2880360"/>
            <a:ext cx="4023360" cy="1600200"/>
          </a:xfrm>
          <a:prstGeom prst="roundRect">
            <a:avLst>
              <a:gd name="adj" fmla="val 4571"/>
            </a:avLst>
          </a:prstGeom>
          <a:solidFill>
            <a:srgbClr val="1F2E52"/>
          </a:solidFill>
          <a:ln w="12700">
            <a:solidFill>
              <a:srgbClr val="1F2E52"/>
            </a:solidFill>
            <a:prstDash val="solid"/>
          </a:ln>
        </p:spPr>
      </p:sp>
      <p:sp>
        <p:nvSpPr>
          <p:cNvPr id="15" name="Shape 13"/>
          <p:cNvSpPr/>
          <p:nvPr/>
        </p:nvSpPr>
        <p:spPr>
          <a:xfrm>
            <a:off x="640080" y="3063240"/>
            <a:ext cx="384048" cy="384048"/>
          </a:xfrm>
          <a:prstGeom prst="ellipse">
            <a:avLst/>
          </a:prstGeom>
          <a:solidFill>
            <a:srgbClr val="FC7A1E"/>
          </a:solidFill>
          <a:ln w="12700">
            <a:solidFill>
              <a:srgbClr val="FC7A1E"/>
            </a:solidFill>
            <a:prstDash val="solid"/>
          </a:ln>
        </p:spPr>
      </p:sp>
      <p:sp>
        <p:nvSpPr>
          <p:cNvPr id="16" name="Text 14"/>
          <p:cNvSpPr txBox="1"/>
          <p:nvPr/>
        </p:nvSpPr>
        <p:spPr>
          <a:xfrm>
            <a:off x="64008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143000" y="3063240"/>
            <a:ext cx="3200400"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Hardware and payload</a:t>
            </a:r>
            <a:endParaRPr lang="en-US" sz="1500" dirty="0"/>
          </a:p>
        </p:txBody>
      </p:sp>
      <p:sp>
        <p:nvSpPr>
          <p:cNvPr id="18" name="Text 16"/>
          <p:cNvSpPr txBox="1"/>
          <p:nvPr/>
        </p:nvSpPr>
        <p:spPr>
          <a:xfrm>
            <a:off x="640080" y="3566160"/>
            <a:ext cx="3657600" cy="822960"/>
          </a:xfrm>
          <a:prstGeom prst="rect">
            <a:avLst/>
          </a:prstGeom>
          <a:noFill/>
          <a:ln/>
        </p:spPr>
        <p:txBody>
          <a:bodyPr wrap="square" lIns="0" tIns="0" rIns="0" bIns="0" rtlCol="0" anchor="t"/>
          <a:lstStyle/>
          <a:p>
            <a:pPr indent="0" marL="0">
              <a:buNone/>
            </a:pPr>
            <a:r>
              <a:rPr lang="en-US" sz="1200" dirty="0">
                <a:solidFill>
                  <a:srgbClr val="C9D3E6"/>
                </a:solidFill>
                <a:latin typeface="Calibri" pitchFamily="34" charset="0"/>
                <a:ea typeface="Calibri" pitchFamily="34" charset="-122"/>
                <a:cs typeface="Calibri" pitchFamily="34" charset="-120"/>
              </a:rPr>
              <a:t>v1.0/v1.1 boosters rarely landed; FT, B4 and B5 account for nearly all successes. 2,000–5,000 kg payloads land most often.</a:t>
            </a:r>
            <a:endParaRPr lang="en-US" sz="1200" dirty="0"/>
          </a:p>
        </p:txBody>
      </p:sp>
      <p:sp>
        <p:nvSpPr>
          <p:cNvPr id="19" name="Shape 17"/>
          <p:cNvSpPr/>
          <p:nvPr/>
        </p:nvSpPr>
        <p:spPr>
          <a:xfrm>
            <a:off x="4663440" y="2880360"/>
            <a:ext cx="4023360" cy="1600200"/>
          </a:xfrm>
          <a:prstGeom prst="roundRect">
            <a:avLst>
              <a:gd name="adj" fmla="val 4571"/>
            </a:avLst>
          </a:prstGeom>
          <a:solidFill>
            <a:srgbClr val="1F2E52"/>
          </a:solidFill>
          <a:ln w="12700">
            <a:solidFill>
              <a:srgbClr val="1F2E52"/>
            </a:solidFill>
            <a:prstDash val="solid"/>
          </a:ln>
        </p:spPr>
      </p:sp>
      <p:sp>
        <p:nvSpPr>
          <p:cNvPr id="20" name="Shape 18"/>
          <p:cNvSpPr/>
          <p:nvPr/>
        </p:nvSpPr>
        <p:spPr>
          <a:xfrm>
            <a:off x="4846320" y="3063240"/>
            <a:ext cx="384048" cy="384048"/>
          </a:xfrm>
          <a:prstGeom prst="ellipse">
            <a:avLst/>
          </a:prstGeom>
          <a:solidFill>
            <a:srgbClr val="FC7A1E"/>
          </a:solidFill>
          <a:ln w="12700">
            <a:solidFill>
              <a:srgbClr val="FC7A1E"/>
            </a:solidFill>
            <a:prstDash val="solid"/>
          </a:ln>
        </p:spPr>
      </p:sp>
      <p:sp>
        <p:nvSpPr>
          <p:cNvPr id="21" name="Text 19"/>
          <p:cNvSpPr txBox="1"/>
          <p:nvPr/>
        </p:nvSpPr>
        <p:spPr>
          <a:xfrm>
            <a:off x="484632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49240" y="3063240"/>
            <a:ext cx="3200400"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SVM is the best model</a:t>
            </a:r>
            <a:endParaRPr lang="en-US" sz="1500" dirty="0"/>
          </a:p>
        </p:txBody>
      </p:sp>
      <p:sp>
        <p:nvSpPr>
          <p:cNvPr id="23" name="Text 21"/>
          <p:cNvSpPr txBox="1"/>
          <p:nvPr/>
        </p:nvSpPr>
        <p:spPr>
          <a:xfrm>
            <a:off x="4846320" y="3566160"/>
            <a:ext cx="3657600" cy="822960"/>
          </a:xfrm>
          <a:prstGeom prst="rect">
            <a:avLst/>
          </a:prstGeom>
          <a:noFill/>
          <a:ln/>
        </p:spPr>
        <p:txBody>
          <a:bodyPr wrap="square" lIns="0" tIns="0" rIns="0" bIns="0" rtlCol="0" anchor="t"/>
          <a:lstStyle/>
          <a:p>
            <a:pPr indent="0" marL="0">
              <a:buNone/>
            </a:pPr>
            <a:r>
              <a:rPr lang="en-US" sz="1200" dirty="0">
                <a:solidFill>
                  <a:srgbClr val="C9D3E6"/>
                </a:solidFill>
                <a:latin typeface="Calibri" pitchFamily="34" charset="0"/>
                <a:ea typeface="Calibri" pitchFamily="34" charset="-122"/>
                <a:cs typeface="Calibri" pitchFamily="34" charset="-120"/>
              </a:rPr>
              <a:t>All models reach 83.3% on the test set; across 50 splits SVM is best (84.4%). Errors are false positives, so treat predicted landings with care.</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48</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Innovative Insights — Beyond the Template</a:t>
            </a:r>
            <a:endParaRPr lang="en-US" sz="2600" dirty="0"/>
          </a:p>
        </p:txBody>
      </p:sp>
      <p:sp>
        <p:nvSpPr>
          <p:cNvPr id="4" name="Text 2"/>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What a competing bidder like Space Y should take away</a:t>
            </a:r>
            <a:endParaRPr lang="en-US" sz="1300" dirty="0"/>
          </a:p>
        </p:txBody>
      </p:sp>
      <p:graphicFrame>
        <p:nvGraphicFramePr>
          <p:cNvPr id="5" name="Chart 0" descr=""/>
          <p:cNvGraphicFramePr/>
          <p:nvPr/>
        </p:nvGraphicFramePr>
        <p:xfrm>
          <a:off x="365760" y="114300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846320" y="1280160"/>
            <a:ext cx="3840480" cy="3383280"/>
          </a:xfrm>
          <a:prstGeom prst="rect">
            <a:avLst/>
          </a:prstGeom>
          <a:noFill/>
          <a:ln/>
        </p:spPr>
        <p:txBody>
          <a:bodyPr wrap="square" lIns="0" tIns="0" rIns="0" bIns="0" rtlCol="0" anchor="t"/>
          <a:lstStyle/>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Payload is not a penalty: </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the heaviest band (8,000 kg+) lands most often (87%), because heavy missions flew late on mature boosters. Era confounds payload.</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Price a GTO bid higher: </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GTO missions land only about half the time, so SpaceX's true cost on those launches is closer to expendable pricing.</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One split is not enough: </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four models tied at 83.3% on the 18-launch test set, but resampling 50 splits showed SVM best and the decision tree overfitting (75%).</a:t>
            </a:r>
            <a:endParaRPr lang="en-US" sz="1200" dirty="0"/>
          </a:p>
          <a:p>
            <a:pPr marL="342900" indent="-342900">
              <a:spcAft>
                <a:spcPts val="600"/>
              </a:spcAft>
              <a:buSzPct val="100000"/>
              <a:buChar char="•"/>
            </a:pPr>
            <a:r>
              <a:rPr lang="en-US" sz="1200" b="1" dirty="0">
                <a:solidFill>
                  <a:srgbClr val="14213D"/>
                </a:solidFill>
                <a:latin typeface="Calibri" pitchFamily="34" charset="0"/>
                <a:ea typeface="Calibri" pitchFamily="34" charset="-122"/>
                <a:cs typeface="Calibri" pitchFamily="34" charset="-120"/>
              </a:rPr>
              <a:t>Next step: </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add launch year and booster block as explicit features and retrain on post-2020 launches to test whether accuracy holds.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49</a:t>
            </a:r>
            <a:endParaRPr lang="en-US" sz="900" dirty="0"/>
          </a:p>
        </p:txBody>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a:t>
            </a:r>
            <a:endParaRPr lang="en-US" sz="2600" dirty="0"/>
          </a:p>
        </p:txBody>
      </p:sp>
      <p:sp>
        <p:nvSpPr>
          <p:cNvPr id="4" name="Text 2"/>
          <p:cNvSpPr txBox="1"/>
          <p:nvPr/>
        </p:nvSpPr>
        <p:spPr>
          <a:xfrm>
            <a:off x="457200" y="1097280"/>
            <a:ext cx="8229600" cy="356616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GitHub repository: </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https://github.com/kautzarichramsyah/Applied-Data-Science-Capstone</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Data sources: </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SpaceX REST API (IBM static snapshot API_call_spacex_api.json), Wikipedia "List of Falcon 9 and Falcon Heavy launches", IBM Spacex.csv and spacex_launch_dash.csv.</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Best hyperparameters: </a:t>
            </a:r>
            <a:pPr indent="0" marL="0">
              <a:spcAft>
                <a:spcPts val="600"/>
              </a:spcAft>
              <a:buNone/>
            </a:pPr>
            <a:endParaRPr lang="en-US" sz="1250" dirty="0"/>
          </a:p>
          <a:p>
            <a:pPr lvl="1" marL="381000" indent="-1905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Logistic regression: C=0.01, penalty=l2, solver=lbfgs</a:t>
            </a:r>
            <a:endParaRPr lang="en-US" sz="1250" dirty="0"/>
          </a:p>
          <a:p>
            <a:pPr lvl="1" marL="381000" indent="-1905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SVM (best model): kernel=sigmoid, C=1, gamma=0.0316</a:t>
            </a:r>
            <a:endParaRPr lang="en-US" sz="1250" dirty="0"/>
          </a:p>
          <a:p>
            <a:pPr lvl="1" marL="381000" indent="-1905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Decision tree: criterion=gini, max_depth=8, min_samples_leaf=4, splitter=random</a:t>
            </a:r>
            <a:endParaRPr lang="en-US" sz="1250" dirty="0"/>
          </a:p>
          <a:p>
            <a:pPr lvl="1" marL="381000" indent="-1905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KNN: n_neighbors=10, p=1, algorithm=auto</a:t>
            </a:r>
            <a:endParaRPr lang="en-US" sz="1250" dirty="0"/>
          </a:p>
          <a:p>
            <a:pPr marL="342900" indent="-342900">
              <a:spcAft>
                <a:spcPts val="600"/>
              </a:spcAft>
              <a:buSzPct val="100000"/>
              <a:buChar char="•"/>
            </a:pPr>
            <a:r>
              <a:rPr lang="en-US" sz="1250" b="1" dirty="0">
                <a:solidFill>
                  <a:srgbClr val="14213D"/>
                </a:solidFill>
                <a:latin typeface="Calibri" pitchFamily="34" charset="0"/>
                <a:ea typeface="Calibri" pitchFamily="34" charset="-122"/>
                <a:cs typeface="Calibri" pitchFamily="34" charset="-120"/>
              </a:rPr>
              <a:t>Repository contents: </a:t>
            </a:r>
            <a:pPr indent="0" marL="0">
              <a:spcAft>
                <a:spcPts val="600"/>
              </a:spcAft>
              <a:buNone/>
            </a:pPr>
            <a:r>
              <a:rPr lang="en-US" sz="1250" dirty="0">
                <a:solidFill>
                  <a:srgbClr val="1F2937"/>
                </a:solidFill>
                <a:latin typeface="Calibri" pitchFamily="34" charset="0"/>
                <a:ea typeface="Calibri" pitchFamily="34" charset="-122"/>
                <a:cs typeface="Calibri" pitchFamily="34" charset="-120"/>
              </a:rPr>
              <a:t>notebooks for data collection (API), web scraping, data wrangling, EDA with SQL, EDA with visualization, Folium maps and machine learning prediction, plus spacex_dash_app.py.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SpaceX Falcon 9 Landing Prediction — IBM Applied Data Science Capstone</dc:title>
  <dc:subject>PptxGenJS Presentation</dc:subject>
  <dc:creator>Kautzar</dc:creator>
  <cp:lastModifiedBy>Kautzar</cp:lastModifiedBy>
  <cp:revision>1</cp:revision>
  <dcterms:created xsi:type="dcterms:W3CDTF">2026-10-01T07:26:09Z</dcterms:created>
  <dcterms:modified xsi:type="dcterms:W3CDTF">2026-10-01T07:26:09Z</dcterms:modified>
</cp:coreProperties>
</file>