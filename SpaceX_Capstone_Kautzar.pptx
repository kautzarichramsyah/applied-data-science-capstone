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4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5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ES-L1 (n=1)</c:v>
                  </c:pt>
                  <c:pt idx="1">
                    <c:v>GEO (n=1)</c:v>
                  </c:pt>
                  <c:pt idx="2">
                    <c:v>HEO (n=1)</c:v>
                  </c:pt>
                  <c:pt idx="3">
                    <c:v>SSO (n=5)</c:v>
                  </c:pt>
                  <c:pt idx="4">
                    <c:v>VLEO (n=14)</c:v>
                  </c:pt>
                  <c:pt idx="5">
                    <c:v>LEO (n=7)</c:v>
                  </c:pt>
                  <c:pt idx="6">
                    <c:v>PO (n=9)</c:v>
                  </c:pt>
                  <c:pt idx="7">
                    <c:v>MEO (n=3)</c:v>
                  </c:pt>
                  <c:pt idx="8">
                    <c:v>ISS (n=21)</c:v>
                  </c:pt>
                  <c:pt idx="9">
                    <c:v>GTO (n=27)</c:v>
                  </c:pt>
                  <c:pt idx="10">
                    <c:v>SO (n=1)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0.857</c:v>
                </c:pt>
                <c:pt idx="5">
                  <c:v>0.714</c:v>
                </c:pt>
                <c:pt idx="6">
                  <c:v>0.667</c:v>
                </c:pt>
                <c:pt idx="7">
                  <c:v>0.667</c:v>
                </c:pt>
                <c:pt idx="8">
                  <c:v>0.619</c:v>
                </c:pt>
                <c:pt idx="9">
                  <c:v>0.519</c:v>
                </c:pt>
                <c:pt idx="10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FC7A1E"/>
            </a:solidFill>
            <a:ln w="38100" cap="flat">
              <a:solidFill>
                <a:srgbClr val="FC7A1E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C7A1E"/>
              </a:solidFill>
              <a:ln w="9525" cap="flat">
                <a:solidFill>
                  <a:srgbClr val="FC7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2010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0.333</c:v>
                </c:pt>
                <c:pt idx="4">
                  <c:v>0.333</c:v>
                </c:pt>
                <c:pt idx="5">
                  <c:v>0.625</c:v>
                </c:pt>
                <c:pt idx="6">
                  <c:v>0.833</c:v>
                </c:pt>
                <c:pt idx="7">
                  <c:v>0.611</c:v>
                </c:pt>
                <c:pt idx="8">
                  <c:v>0.9</c:v>
                </c:pt>
                <c:pt idx="9">
                  <c:v>0.842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Cross-validation accuracy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SVM</c:v>
                  </c:pt>
                  <c:pt idx="2">
                    <c:v>Decision Tree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0.8464</c:v>
                </c:pt>
                <c:pt idx="1">
                  <c:v>0.8482</c:v>
                </c:pt>
                <c:pt idx="2">
                  <c:v>0.8482</c:v>
                </c:pt>
                <c:pt idx="3">
                  <c:v>0.8482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FC7A1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SVM</c:v>
                  </c:pt>
                  <c:pt idx="2">
                    <c:v>Decision Tree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0.8333</c:v>
                </c:pt>
                <c:pt idx="1">
                  <c:v>0.8333</c:v>
                </c:pt>
                <c:pt idx="2">
                  <c:v>0.8333</c:v>
                </c:pt>
                <c:pt idx="3">
                  <c:v>0.8333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4213D"/>
                </a:solidFill>
                <a:latin typeface="Arial"/>
              </a:rPr>
              <a:t>Mean accuracy over 50 splits (majority-class baseline = 66.7%)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accuracy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SVM</c:v>
                  </c:pt>
                  <c:pt idx="2">
                    <c:v>Decision Tree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0.8256</c:v>
                </c:pt>
                <c:pt idx="1">
                  <c:v>0.8444</c:v>
                </c:pt>
                <c:pt idx="2">
                  <c:v>0.7511</c:v>
                </c:pt>
                <c:pt idx="3">
                  <c:v>0.8411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Arial"/>
              </a:rPr>
              <a:t>Landing success by payload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Landing success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&lt;2k kg (n=12)</c:v>
                  </c:pt>
                  <c:pt idx="1">
                    <c:v>2-4k kg (n=27)</c:v>
                  </c:pt>
                  <c:pt idx="2">
                    <c:v>4-6k kg (n=16)</c:v>
                  </c:pt>
                  <c:pt idx="3">
                    <c:v>6-8k kg (n=12)</c:v>
                  </c:pt>
                  <c:pt idx="4">
                    <c:v>8k+ kg (n=23)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0.583</c:v>
                </c:pt>
                <c:pt idx="1">
                  <c:v>0.704</c:v>
                </c:pt>
                <c:pt idx="2">
                  <c:v>0.5</c:v>
                </c:pt>
                <c:pt idx="3">
                  <c:v>0.5</c:v>
                </c:pt>
                <c:pt idx="4">
                  <c:v>0.87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autzarichramsyah/Applied-Data-Science-Capst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APPLIED DATA SCIENCE CAPSTONE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the First Stage Land?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SpaceX Falcon 9 landing success to price a launch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Kautzar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1, 2026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200" u="sng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https://github.com/kautzarichramsyah/Applied-Data-Science-Capstone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097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105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69464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5237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5–11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369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EDA with visualization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12–18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95928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EDA with SQL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19–20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14300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1097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Launch site proximity (Folium)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21–24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856232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18105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Plotly Dash dashboard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25–29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569464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25237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Predictive analysis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30–33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3282696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32369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innovative insights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34–35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105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launches analysed (2010–2020)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8105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stages that landed successfully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8105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(15 of 18 launches)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84.4%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8105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accuracy across 50 data splits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launch data from the SpaceX REST API and Wikipedia, cleaned it with pandas, explored it with SQL, seaborn, Folium and a Plotly Dash app, then tuned four classifiers with GridSearchCV.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landing success: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experience. Success rose from 0% (2010–2013) to 84–90% (2019–2020), and newer boosters (FT, B4, B5) land far more often than v1.0/v1.1.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what: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the best record (76.9%); ES-L1, GEO, HEO and SSO orbits landed every time, GTO only 51.9%.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tuned classifiers reach 83.3% on the 18-launch test set; across 50 resampled splits SVM is the best and most stable model (84.4%). Errors are false positives.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Y wants to bid against SpaceX — so it needs to know what a Falcon 9 launch really costs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about $62 million; other providers charge upwards of $165 million. Most of the saving comes from landing and reusing the first stage.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630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predict whether the first stage will land, we can estimate the true cost of a launch — the information a competing bidder needs.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we set out to answer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0156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payload mass, orbit, launch site and flight number affect landing success?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landing success improved over time, and with which booster versions?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machine learning model predict a successful landing — and how reliably?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wrangling, EDA, interactive analytics and classification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of the end-to-end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630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928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 + Wikipedia web scraping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901952" y="17373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148840" y="13258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4630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18928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Falcon 9, impute payload, build Class label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17373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40480" y="13258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7640" y="14630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18928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and seaborn / matplotlib charts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17373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532120" y="13258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14630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18928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maps and a Plotly Dash dashboard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17373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223760" y="13258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0920" y="14630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609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18928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over 4 classifiers, test-set evaluation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971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(requests, BeautifulSoup, pandas, NumPy, scikit-learn, seaborn, Folium, Plotly Dash) and SQLite via ipython-sql.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variable: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1 if the first stage landed successfully (ocean, ground pad or drone ship), 0 otherwise.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notebooks and spacex_dash_app.py are in https://github.com/kautzarichramsyah/Applied-Data-Science-Capstone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— SpaceX REST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api.spacexdata.com/v4/launches/past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4884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23444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response.json() → pd.json_normalize()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84048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123444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rocket, launchpad, payload and core IDs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53212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23444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Falcon 9 only (drop Falcon 1) → 90 launches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7687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22376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123444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609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PayloadMass with the mean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2697480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7889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requests.get(static_json_url)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pd.json_normalize(response.json())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getBoosterVersion(data); getLaunchSite(data); getPayloadData(data); getCoreData(data)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data_falcon9 = df[df['BoosterVersion'] != 'Falcon 1']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data_falcon9['PayloadMass'] = data_falcon9['PayloadMass'].fillna(data_falcon9['PayloadMass'].mean())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— Web Scraping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Wikipedia "List of Falcon 9 and Falcon Heavy launches" page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4884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23444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HTML into a BeautifulSoup object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84048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123444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tables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soup.find_all("table") → launch tables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53212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23444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from &lt;th&gt;, rows from &lt;td&gt;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7687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22376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123444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609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→ DataFrame → CSV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269748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8346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SECOND SOURCE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adds human-readable mission details (customer, launch outcome, booster landing) that cross-check the API records.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269748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92040" y="28346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soup.title returns "List of Falcon 9 and Falcon Heavy launches - Wikipedia", confirming the right page was parsed before extracting rows.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Wrangling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eight landing outcomes into one binary label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9377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331720"/>
                <a:gridCol w="73152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ASDS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Landed on drone 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landing attempted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RTLS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Landed on ground pad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ASDS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 ship landing failed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Ocean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ocean landing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Ocean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 landing failed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ASDS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 ship, no attempt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RTLS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pad landing failed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3444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3716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landing_class = 0 if outcome in bad_outcomes else 1 → df['Class']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288036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3017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Class = 0.667: two out of three Falcon 9 first stages landed. CCAFS SLC 40 hosted 55 of the 90 launches.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and Interactive Visual Analytics —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96896" cy="3566160"/>
          </a:xfrm>
          <a:prstGeom prst="roundRect">
            <a:avLst>
              <a:gd name="adj" fmla="val 28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(seaborn)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/ strip plots: flight number, payload vs site and orbit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success rate by orbit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yearly success trend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of categorical features for modelling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3552" y="1097280"/>
            <a:ext cx="2596896" cy="3566160"/>
          </a:xfrm>
          <a:prstGeom prst="roundRect">
            <a:avLst>
              <a:gd name="adj" fmla="val 28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(SQLite)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69164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Spacex.csv into SPACEXTBL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DISTINCT, LIKE, SUM, AVG, MIN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and GROUP BY / ORDER BY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filtering with substr()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1097280"/>
            <a:ext cx="2596896" cy="3566160"/>
          </a:xfrm>
          <a:prstGeom prst="roundRect">
            <a:avLst>
              <a:gd name="adj" fmla="val 28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2784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Folium + Dash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169164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and markers for each launch site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MarkerCluster of green/red outcomes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PolyLine distances to coast and infrastructure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Dash: site dropdown, pie chart, payload slider, scatter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Analysis —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Class; X = 83 features (numeric + one-hot)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4884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2344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StandardScaler().fit_transform(X)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84048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12344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train_test_split, test_size=0.2 → 72 train / 18 test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53212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2344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GridSearchCV, cv=10, per model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76872" y="15087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7A1E"/>
                </a:solidFill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223760" y="109728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12344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609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1664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+ confusion matrix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Hyperparameters searched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∈ {0.01, 0.1, 1}, penalty = l2, solver = lbfgs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vector machine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∈ {linear, rbf, poly, sigmoid}, C and gamma ∈ logspace(-3, 3, 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criterion, splitter, max_depth 2–18, min_samples_leaf, min_samples_split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n_neighbors 1–10, algorithm, p ∈ {1, 2}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with Visualization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scatter plots, bar and line charts reveal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Number vs. Launch Site</a:t>
            </a:r>
            <a:endParaRPr lang="en-US" sz="2600" dirty="0"/>
          </a:p>
        </p:txBody>
      </p:sp>
      <p:pic>
        <p:nvPicPr>
          <p:cNvPr id="4" name="Image 0" descr="out/fig/flight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760720" cy="2601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09728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37960" y="1234440"/>
            <a:ext cx="1965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flights (mostly from CCAFS SLC 40) failed to land. As flight numbers grow, green dominates at every site — experience matters more than location. KSC LC 39A only joined after flight 26 and started strong.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Mass vs. Launch Site</a:t>
            </a:r>
            <a:endParaRPr lang="en-US" sz="2600" dirty="0"/>
          </a:p>
        </p:txBody>
      </p:sp>
      <p:pic>
        <p:nvPicPr>
          <p:cNvPr id="4" name="Image 0" descr="out/fig/payload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760720" cy="2601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09728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37960" y="1234440"/>
            <a:ext cx="1965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 4E launched no payloads above 10,000 kg. Heavy payloads (&gt; 8,000 kg) mostly landed (87%), largely because they flew late on Block 5 boosters.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Rate by Orbit Type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09728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37960" y="1234440"/>
            <a:ext cx="1965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and SSO landed every time, but with 1–5 launches each. Among the busy orbits, VLEO (86%) and LEO (71%) beat ISS (62%) and GTO (52%), the hardest orbit to recover from.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Number vs. Orbit Type</a:t>
            </a:r>
            <a:endParaRPr lang="en-US" sz="2600" dirty="0"/>
          </a:p>
        </p:txBody>
      </p:sp>
      <p:pic>
        <p:nvPicPr>
          <p:cNvPr id="4" name="Image 0" descr="out/fig/flight_or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760720" cy="260456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09728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37960" y="1234440"/>
            <a:ext cx="1965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LEO, success clearly tracks flight number. In GTO there is no such trend: failures continue into the later flights, so orbit energy, not just experience, limits recovery.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Mass vs. Orbit Type</a:t>
            </a:r>
            <a:endParaRPr lang="en-US" sz="2600" dirty="0"/>
          </a:p>
        </p:txBody>
      </p:sp>
      <p:pic>
        <p:nvPicPr>
          <p:cNvPr id="4" name="Image 0" descr="out/fig/payload_or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760720" cy="26075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09728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37960" y="1234440"/>
            <a:ext cx="1965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payloads land well in Polar, LEO, ISS and VLEO orbits. GTO payloads (3,000–7,000 kg) are a mix of successes and failures, with no clear payload 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Success Yearly Trend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09728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37960" y="1234440"/>
            <a:ext cx="1965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landings succeeded from 2010 to 2013. The rate climbed steadily from 2013, dipped in 2018 as Block 5 was introduced, and reached 90% in 2019.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with SQL — Results (1/2)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on the SPACEXTBL table (Spacex.csv, 101 rows)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103120"/>
                <a:gridCol w="37947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(core)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launch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DISTINCT Launch_Site FROM SPACEXTBL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LC-40, VAFB SLC-4E, KSC LC-39A, CCAFS SLC-40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records where site begins with "CCA"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* FROM SPACEXTBL WHERE Launch_Site LIKE 'CCA%' LIMIT 5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5 launches, all CCAFS LC-40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payload for NASA (CRS)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SUM(PAYLOAD_MASS__KG_) ... WHERE Customer = 'NASA (CRS)'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45,596 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payload, F9 v1.1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AVG(PAYLOAD_MASS__KG_) ... WHERE Booster_Version = 'F9 v1.1'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2,928.4 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successful ground-pad landing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MIN(Date) ... WHERE Landing_Outcome = 'Success (ground pad)'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December 2015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with SQL — Results (2/2)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on the SPACEXTBL table (Spacex.csv, 101 rows)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103120"/>
                <a:gridCol w="37947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(core)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Drone-ship successes with payload 4,000–6,000 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... WHERE Landing_Outcome = 'Success (drone ship)' AND PAYLOAD_MASS__KG_ BETWEEN 4000 AND 6000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 FT B1022, B1026, B1021.2, B1031.2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outcomes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CASE WHEN Mission_Outcome LIKE 'Success%' ... GROUP BY Outcome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success, 1 failure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Boosters that carried the max payload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 PAYLOAD_MASS__KG_ = (SELECT MAX(PAYLOAD_MASS__KG_) FROM SPACEXTBL)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Block 5 boosters (e.g. B1048.4, B1049.4, B1051.3)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 drone-ship failures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 substr(Date,1,4) = '2015' AND Landing_Outcome = 'Failure (drone ship)'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Jan: B1012, Apr: B1015 (CCAFS LC-40)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outcomes ranked, 2010-06-04 to 2017-03-20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 BY Landing_Outcome ORDER BY COUNT(*) DESC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attempt 10; drone-ship success 5 and failure 5; ground pad 3 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Sites Proximity Analysis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 built with Folium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Folium Map — All Launch Sites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folium.Circle + folium.Marker at each site's latitude / longitude</a:t>
            </a:r>
            <a:endParaRPr lang="en-US" sz="1300" dirty="0"/>
          </a:p>
        </p:txBody>
      </p:sp>
      <p:pic>
        <p:nvPicPr>
          <p:cNvPr id="5" name="Image 0" descr="out/fig/folium_si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852160" cy="3121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234440"/>
            <a:ext cx="2286000" cy="3154680"/>
          </a:xfrm>
          <a:prstGeom prst="roundRect">
            <a:avLst>
              <a:gd name="adj" fmla="val 32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371600"/>
            <a:ext cx="1920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sites sit on a coast at the southern edge of the U.S. (close to the Equator). Florida sites launch east over the Atlantic; Vandenberg launches south over the Pacific for polar orbits.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Folium Map — Launch Outcomes per Site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MarkerCluster of every launch: green marker = landed (class 1), red = failed (class 0)</a:t>
            </a:r>
            <a:endParaRPr lang="en-US" sz="1300" dirty="0"/>
          </a:p>
        </p:txBody>
      </p:sp>
      <p:pic>
        <p:nvPicPr>
          <p:cNvPr id="5" name="Image 0" descr="out/fig/folium_clu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4023360" cy="2145792"/>
          </a:xfrm>
          <a:prstGeom prst="rect">
            <a:avLst/>
          </a:prstGeom>
        </p:spPr>
      </p:pic>
      <p:pic>
        <p:nvPicPr>
          <p:cNvPr id="6" name="Image 1" descr="out/fig/folium_spi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34440"/>
            <a:ext cx="4023360" cy="21457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show 13 launches at KSC LC-39A and 33 at the CCAFS pad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the KSC LC-39A cluster: 10 green, 3 red markers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65760" y="384048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3913632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the best ratio (10 landed / 3 failed, 76.9%). The CCAFS pad (LC-40 + SLC-40) flew most launches but mostly early ones, so it has the most failures (10 / 23).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Folium Map — Proximity of CCAFS SLC-40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folium.PolyLine from the launch site, distances computed with the haversine formula</a:t>
            </a:r>
            <a:endParaRPr lang="en-US" sz="1300" dirty="0"/>
          </a:p>
        </p:txBody>
      </p:sp>
      <p:pic>
        <p:nvPicPr>
          <p:cNvPr id="5" name="Image 0" descr="out/fig/folium_proxim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852160" cy="3121152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34440"/>
          <a:ext cx="22860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515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Titusville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Melbourne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288036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583680" y="301752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 is under 1 km from the sea (safe abort and recovery over water) and 23+ km from the nearest towns for public safety.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 Dash Dashboard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launch-records dashboard (spacex_dash_app.py)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2600" dirty="0"/>
          </a:p>
        </p:txBody>
      </p:sp>
      <p:pic>
        <p:nvPicPr>
          <p:cNvPr id="4" name="Image 0" descr="out/fig/dash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840480" cy="35404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0" y="100584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(site-dropdown):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or one of the four launch sites.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(success-pie-chart):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→ share of successes per site; one site → success vs. failure.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slider (payload-slider):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payload from 0 to 10,000 kg in 1,000 kg steps.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(success-payload-scatter-chart):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vs. class, coloured by booster version; reacts to both the dropdown and the slider (two Inputs in one callback).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Successful Launches by Site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= All Sites</a:t>
            </a:r>
            <a:endParaRPr lang="en-US" sz="1300" dirty="0"/>
          </a:p>
        </p:txBody>
      </p:sp>
      <p:pic>
        <p:nvPicPr>
          <p:cNvPr id="5" name="Image 0" descr="out/fig/dash_pie_all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29200" cy="27526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234440"/>
            <a:ext cx="3017520" cy="3154680"/>
          </a:xfrm>
          <a:prstGeom prst="roundRect">
            <a:avLst>
              <a:gd name="adj" fmla="val 242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371600"/>
            <a:ext cx="2651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the largest share of successful launches (41.7%), then CCAFS LC-40 (29.2%), VAFB SLC-4E (16.7%) and CCAFS SLC-40 (12.5%). Shares partly reflect how many missions each site flew.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Site with the Highest Success Rate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= KSC LC-39A</a:t>
            </a:r>
            <a:endParaRPr lang="en-US" sz="1300" dirty="0"/>
          </a:p>
        </p:txBody>
      </p:sp>
      <p:pic>
        <p:nvPicPr>
          <p:cNvPr id="5" name="Image 0" descr="out/fig/dash_pie_ksc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29200" cy="27526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234440"/>
            <a:ext cx="3017520" cy="3154680"/>
          </a:xfrm>
          <a:prstGeom prst="roundRect">
            <a:avLst>
              <a:gd name="adj" fmla="val 242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371600"/>
            <a:ext cx="2651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landed 10 of 13 first stages: a 76.9% success rate, the best of any site (CCAFS LC-40 27%, CCAFS SLC-40 43%, VAFB SLC-4E 40%).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Payload vs. Launch Outcome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scatter, two slider settings (all sites)</a:t>
            </a:r>
            <a:endParaRPr lang="en-US" sz="1300" dirty="0"/>
          </a:p>
        </p:txBody>
      </p:sp>
      <p:pic>
        <p:nvPicPr>
          <p:cNvPr id="5" name="Image 0" descr="out/fig/dash_scatter_range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114800" cy="2252154"/>
          </a:xfrm>
          <a:prstGeom prst="rect">
            <a:avLst/>
          </a:prstGeom>
        </p:spPr>
      </p:pic>
      <p:pic>
        <p:nvPicPr>
          <p:cNvPr id="6" name="Image 1" descr="out/fig/dash_scatter_heavy_r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97280"/>
            <a:ext cx="4114800" cy="22521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3364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2,000–5,000 kg: 16 of 29 landed (55%)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617720" y="3364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5,000–10,000 kg: 5 of 14 landed (36%)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65760" y="370332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3776472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sweet spot: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2,000–5,000 kg has the most successes and the highest rate; below 2,000 kg only 23% landed (mostly early v1.0/v1.1 flights).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matters most: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boosters landed 16 of 24 (67%), B4 6 of 11; v1.1 landed only 1 of 15 and v1.0 none.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Analysis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Accuracy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(cv=10) on 72 training launches, scored on 18 test launches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548640"/>
                <a:gridCol w="548640"/>
                <a:gridCol w="548640"/>
                <a:gridCol w="548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754880" y="297180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937760" y="310896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split every model gets 15 of 18 right (83.3%), with 100% recall and 80% precision. SVM, decision tree and KNN share the top CV score (84.8%), so one split cannot separate them; see the robustness check on slide 33. Y-axis starts at 70%.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Matrices — All Four Models</a:t>
            </a:r>
            <a:endParaRPr lang="en-US" sz="2600" dirty="0"/>
          </a:p>
        </p:txBody>
      </p:sp>
      <p:pic>
        <p:nvPicPr>
          <p:cNvPr id="4" name="Image 0" descr="out/fig/cm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8321040" cy="20416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3291840"/>
            <a:ext cx="8321040" cy="1325880"/>
          </a:xfrm>
          <a:prstGeom prst="roundRect">
            <a:avLst>
              <a:gd name="adj" fmla="val 551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2900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produce the same matrix: 12 true positives, 3 true negatives, 3 false positives and 0 false negatives. Every landing was caught, but 3 of the 6 failed landings were predicted to land, so the models are over-optimistic about failures.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Is Best? — Robustness Check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different train/test splits (5-fold × 10 repeats) using each model's tuned hyperparameters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94960" y="123444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0" y="137160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SVM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(sigmoid kernel) is the most accurate and stable: 84.4% ± 8.0%, ahead of KNN (84.1%) and logistic regression (82.6%). The decision tree drops to 75.1%: its single-split tie was luck, and it overfits. All models clearly beat the 66.7% baseline.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F2E52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pays off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rose from 0% before 2014 to 90% in 2019; flight number is the strongest single signal.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F2E52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and orbit matter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the best record (76.9%). GTO is the hardest orbit (52%); SSO, GEO, HEO and ES-L1 landed every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F2E52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payload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v1.0/v1.1 boosters rarely landed; FT, B4 and B5 account for nearly all successes. 2,000–5,000 kg payloads land most often.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F2E52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rgbClr val="FC7A1E"/>
          </a:solidFill>
          <a:ln w="12700">
            <a:solidFill>
              <a:srgbClr val="FC7A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is the best model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reach 83.3% on the test set; across 50 splits SVM is best (84.4%). Errors are false positives, so treat predicted landings with care.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Innovative Insights — Beyond the Template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competing bidder like Space Y should take away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846320" y="128016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is not a penalty: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heaviest band (8,000 kg+) lands most often (87%), because heavy missions flew late on mature boosters. Era confounds payload.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 GTO bid higher: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missions land only about half the time, so SpaceX's true cost on those launches is closer to expendable pricing.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split is not enough: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tied at 83.3% on the 18-launch test set, but resampling 50 splits showed SVM best and the decision tree overfitting (75%).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launch year and booster block as explicit features and retrain on post-2020 launches to test whether accuracy holds.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https://github.com/kautzarichramsyah/Applied-Data-Science-Capstone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 (IBM static snapshot API_call_spacex_api.json), Wikipedia "List of Falcon 9 and Falcon Heavy launches", IBM Spacex.csv and spacex_launch_dash.csv.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hyperparameters: </a:t>
            </a:r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lvl="1" marL="381000" indent="-1905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C=0.01, penalty=l2, solver=lbfgs</a:t>
            </a:r>
            <a:endParaRPr lang="en-US" sz="1250" dirty="0"/>
          </a:p>
          <a:p>
            <a:pPr lvl="1" marL="381000" indent="-1905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(best model): kernel=sigmoid, C=1, gamma=0.0316</a:t>
            </a:r>
            <a:endParaRPr lang="en-US" sz="1250" dirty="0"/>
          </a:p>
          <a:p>
            <a:pPr lvl="1" marL="381000" indent="-1905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criterion=gini, max_depth=8, min_samples_leaf=4, splitter=random</a:t>
            </a:r>
            <a:endParaRPr lang="en-US" sz="1250" dirty="0"/>
          </a:p>
          <a:p>
            <a:pPr lvl="1" marL="381000" indent="-1905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n_neighbors=10, p=1, algorithm=auto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contents: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for data collection (API), web scraping, data wrangling, EDA with SQL, EDA with visualization, Folium maps and machine learning prediction, plus spacex_dash_app.py.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Landing Prediction — IBM Applied Data Science Capstone</dc:title>
  <dc:subject>PptxGenJS Presentation</dc:subject>
  <dc:creator>Kautzar</dc:creator>
  <cp:lastModifiedBy>Kautzar</cp:lastModifiedBy>
  <cp:revision>1</cp:revision>
  <dcterms:created xsi:type="dcterms:W3CDTF">2026-10-01T07:11:22Z</dcterms:created>
  <dcterms:modified xsi:type="dcterms:W3CDTF">2026-10-01T07:11:22Z</dcterms:modified>
</cp:coreProperties>
</file>